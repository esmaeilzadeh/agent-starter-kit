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(2 min). Do not start with tools. Start with the claim: we measure work that disappears and miss complexity that moves. Promise: one model that covers build-vs-buy, frameworks, platforms, and AI. Ask the room to keep one question in mind: where should this complexity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map (1 min). Flag a short stretch break around minute 45 if energy drops. Discussion is reserved at the end, but questions of clarification are welcome.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Libraries, frameworks, platforms, managed services, and now agents exist to let us delegate. The advice is usually right. The evaluation method is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arguments against delegation. They are arguments against scoring only the work that vanished. We rarely measure the complexity that moved.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this sentence. Everything else is an instance: libraries, Kafka-like platforms, effect systems, SaaS, coding agents.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marker. Pause. Reset attention. Build versus buy, as usually presented, is a false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this as a meeting. Someone puts two numbers on a slide. Ask the room what is missing before you advance.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list is invisible because it does not look like coding. It is still engineering work. Pause on migration — that is exit cost, coming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load-bearing question of the first 15 minutes. Write it if you have a whiteboard.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marker. Pause. Reset attention. Less code and less complexity are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(3 min). Code reduction is real at each step. So is the increase in dependency. Stop on the last column: part of the architecture itself may have left the application. Punchline next slide: less code ≠ less complexity.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land. People nod at 'less code.' Force the second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sentence in a design doc: 'we are using an existing tool.' Architecturally they are not the same. One gives a mechanism. The other can become the owner of an execution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when someone says 'it's OSS, we can always change it.' Forking a platform is not the same as owning your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marker. Pause. Reset attention. The least visible cost is how the team is forced to think.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not 'is this a library?' A sophisticated library can feel heavier than an ordinary framework. Ask how much of the codebase has to think in its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not inherently bad. Sometimes it is exactly what you need. It deserves a higher bar. Does the problem require this model, or does the model only make the implementation more elegant?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and reactive examples: composition, explicit errors, disciplined resources, principled concurrency — all real. The danger is not fake abstraction. It is that one beautiful problem conscripts the rest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this as a story, not a rant. Experienced suspicion of convenient abstractions is often economic memory, not Luddism.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may be excellent at the general problem. You pay for generality you did not ask for. Every concept is cognitive surface area. Capable ≠ economically right.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evaluate as if today's architecture were permanent. It is not: requirements, teams, scale, tech, business. High exit cost needs stronger evidence. Architectural reversibility is itself a form of value. A cheap irreversible decision is not the same as a cheap reversible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a minute here. People underweight option value. If they remember one phrase from this section,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else becomes likely once we choose this? Ecosystems create value. Count them as cost, not surprise. Do not evaluate a technology in isolation if it changes the set of later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marker. Pause. Reset attention. The goal is appropriate ownership — not maximum ownership.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universal answer. Keep important application behavior where the application can understand, test, debug, and change it. Delegate commodity mechanisms when that removes more complexity than it introduces.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framework that fits can justify the commitment. A platform that becomes the primary owner of an important workflow may not. No free pass because 'it's just code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slowly. This is the operational default for code-owned projects.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as a default for projects where you own source, architecture, and maintenance. Capable builders have a trap: 'build it because I can.' The opposite trap: 'use it because it exists.' The question is which ownership boundary has the lowest total engineering cost.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Ability lowers the cost of building and creates the temptation to build everything. Name both traps. Then go to AI — the new dimension.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marker. Pause. Reset attention. Traditional tools delegate mechanisms or execution. Agents can delegate labor itself.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agents do not belong on the same spectrum as Spring or Kubernetes. They introduce labor, planning, and sometimes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delegate implementation labor and keep ownership. That is fundamentally different from handing the execution model to a platform.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a platform that owns execution. Here labor is delegated; the artifact comes home. Inspect, test, modify, delete. That is why agents should not sit at the far right of library → framework → platform.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 delegation of labor over delegation of ownership when the resulting artifact can remain under your control.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set can still use AI. Full delegation is more dangerous because the acceptance criteria themselves may be uncertain.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delegates far more judgment. If the room only remembers one AI slide, make it this one plus acceptance ownership.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Human → Agent → Answer. It is a loop: exploration, criticism, refinement. Name it as grilling if that is your team's word.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Grilling improves reasoning quality. It does not turn the producer into an independent reviewer. This matters more as generated volume grows.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Someone still decides: is this acceptable for this system? Humans can stop reading every line and still own the acceptance boundary.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consequences of AI-assisted engineering. Evidence for acceptance: tests, static analysis, independent review, invariants, experiments, security, architecture constraints, human judgment.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Mechanism and execution were the old axes. AI adds labor, planning, and decision-making. Architecture always contained 'who owns the decision?' — AI makes it explicit.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inversion: cheaper production, more expensive checking. If review stays fully manual, AI did not save the system — it relocated the work into the human's scarce attention.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does not mean inspect every line. It means the acceptance boundary stays explicit.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marker. Pause. Reset attention. Every engineering decision is partly about the location, ownership, and movement of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'which option has the most features?' with 'which option gives the best ownership and complexity distribution for this problem?' Hold this list up against any live decision in the room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as a checklist. If a proposal cannot answer these, it is not ready. Work an example from the audience if time remains.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unrelated technologies produce similar scars. The pattern is the movement of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 someone does work toward an artifact you still own. Ownership: responsibility for behavior, execution, or the decision itself moves. Efficient either way. Only one changes who controls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'build everything.' Not 'use everything that exists.' Find the cheapest sustainable location for complexity while preserving the ownership and control the system actually requires. Platforms win when the problem is complex, stable, generic, and expensive to reproduce.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slowly. These five are the whole talk. Invite disagreement on #3 and #4 — they are the operational rules.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Prefer a concrete decision from the audience over abstract agreement.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0"/>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90-MINUTE LECTURE ON ARCHITECTURE, ECONOMICS, AND AI LABOR</a:t>
            </a:r>
          </a:p>
        </p:txBody>
      </p:sp>
      <p:sp>
        <p:nvSpPr>
          <p:cNvPr id="5" name="TextBox 4"/>
          <p:cNvSpPr txBox="1"/>
          <p:nvPr/>
        </p:nvSpPr>
        <p:spPr>
          <a:xfrm>
            <a:off x="502920" y="1920240"/>
            <a:ext cx="11155680" cy="2194560"/>
          </a:xfrm>
          <a:prstGeom prst="rect">
            <a:avLst/>
          </a:prstGeom>
          <a:noFill/>
        </p:spPr>
        <p:txBody>
          <a:bodyPr wrap="square" lIns="0" rIns="0" tIns="0" bIns="0"/>
          <a:lstStyle/>
          <a:p>
            <a:pPr algn="l">
              <a:spcBef>
                <a:spcPts val="0"/>
              </a:spcBef>
              <a:spcAft>
                <a:spcPts val="1000"/>
              </a:spcAft>
            </a:pPr>
            <a:r>
              <a:rPr sz="4400" b="1" i="0">
                <a:solidFill>
                  <a:srgbClr val="1B2A4A"/>
                </a:solidFill>
                <a:latin typeface="Liberation Serif"/>
                <a:ea typeface="Liberation Serif"/>
                <a:cs typeface="Liberation Serif"/>
              </a:rPr>
              <a:t>The Hidden Cost of Delegation</a:t>
            </a:r>
          </a:p>
          <a:p>
            <a:pPr algn="l">
              <a:spcBef>
                <a:spcPts val="0"/>
              </a:spcBef>
              <a:spcAft>
                <a:spcPts val="0"/>
              </a:spcAft>
            </a:pPr>
            <a:r>
              <a:rPr sz="2800" b="0" i="1">
                <a:solidFill>
                  <a:srgbClr val="B88C4A"/>
                </a:solidFill>
                <a:latin typeface="Liberation Serif"/>
                <a:ea typeface="Liberation Serif"/>
                <a:cs typeface="Liberation Serif"/>
              </a:rPr>
              <a:t>The Economics of Complexity Ownership</a:t>
            </a:r>
          </a:p>
        </p:txBody>
      </p:sp>
      <p:sp>
        <p:nvSpPr>
          <p:cNvPr id="6" name="Rectangle 5"/>
          <p:cNvSpPr/>
          <p:nvPr/>
        </p:nvSpPr>
        <p:spPr>
          <a:xfrm>
            <a:off x="502920" y="4297680"/>
            <a:ext cx="201168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572000"/>
            <a:ext cx="10972800" cy="1280160"/>
          </a:xfrm>
          <a:prstGeom prst="rect">
            <a:avLst/>
          </a:prstGeom>
          <a:noFill/>
        </p:spPr>
        <p:txBody>
          <a:bodyPr wrap="square" lIns="0" rIns="0" tIns="0" bIns="0"/>
          <a:lstStyle/>
          <a:p>
            <a:pPr algn="l">
              <a:spcBef>
                <a:spcPts val="0"/>
              </a:spcBef>
              <a:spcAft>
                <a:spcPts val="800"/>
              </a:spcAft>
            </a:pPr>
            <a:r>
              <a:rPr sz="1800" b="0" i="0">
                <a:solidFill>
                  <a:srgbClr val="242424"/>
                </a:solidFill>
                <a:latin typeface="Liberation Sans"/>
                <a:ea typeface="Liberation Sans"/>
                <a:cs typeface="Liberation Sans"/>
              </a:rPr>
              <a:t>Delegation is an architectural and economic decision about where complexity will live — and who will own it.</a:t>
            </a:r>
          </a:p>
          <a:p>
            <a:pPr algn="l">
              <a:spcBef>
                <a:spcPts val="0"/>
              </a:spcBef>
              <a:spcAft>
                <a:spcPts val="600"/>
              </a:spcAft>
            </a:pPr>
            <a:r>
              <a:rPr sz="1400" b="0" i="0">
                <a:solidFill>
                  <a:srgbClr val="5A6570"/>
                </a:solidFill>
                <a:latin typeface="Liberation Sans"/>
                <a:ea typeface="Liberation Sans"/>
                <a:cs typeface="Liberation Sans"/>
              </a:rPr>
              <a:t>Libraries  ·  Frameworks  ·  Platforms  ·  AI agents</a:t>
            </a:r>
          </a:p>
        </p:txBody>
      </p:sp>
      <p:sp>
        <p:nvSpPr>
          <p:cNvPr id="8" name="Rectangle 7"/>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9" name="TextBox 8"/>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Opening   ·   1 / 51</a:t>
            </a:r>
          </a:p>
        </p:txBody>
      </p:sp>
      <p:sp>
        <p:nvSpPr>
          <p:cNvPr id="10" name="Rectangle 9"/>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HOW WE WILL SPEND 90 MINUTES</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The arc</a:t>
            </a:r>
          </a:p>
        </p:txBody>
      </p:sp>
      <p:sp>
        <p:nvSpPr>
          <p:cNvPr id="5" name="Rounded Rectangle 4"/>
          <p:cNvSpPr/>
          <p:nvPr/>
        </p:nvSpPr>
        <p:spPr>
          <a:xfrm>
            <a:off x="502920" y="1600200"/>
            <a:ext cx="3611880" cy="205740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600"/>
              </a:spcAft>
            </a:pPr>
            <a:r>
              <a:rPr sz="1200" b="1" i="0">
                <a:solidFill>
                  <a:srgbClr val="C45C26"/>
                </a:solidFill>
                <a:latin typeface="Liberation Sans"/>
                <a:ea typeface="Liberation Sans"/>
                <a:cs typeface="Liberation Sans"/>
              </a:rPr>
              <a:t>0–10 min</a:t>
            </a:r>
          </a:p>
          <a:p>
            <a:pPr algn="l">
              <a:spcBef>
                <a:spcPts val="0"/>
              </a:spcBef>
              <a:spcAft>
                <a:spcPts val="800"/>
              </a:spcAft>
            </a:pPr>
            <a:r>
              <a:rPr sz="2000" b="1" i="0">
                <a:solidFill>
                  <a:srgbClr val="1B2A4A"/>
                </a:solidFill>
                <a:latin typeface="Liberation Serif"/>
                <a:ea typeface="Liberation Serif"/>
                <a:cs typeface="Liberation Serif"/>
              </a:rPr>
              <a:t>The wrong question</a:t>
            </a:r>
          </a:p>
          <a:p>
            <a:pPr algn="l">
              <a:spcBef>
                <a:spcPts val="0"/>
              </a:spcBef>
              <a:spcAft>
                <a:spcPts val="0"/>
              </a:spcAft>
            </a:pPr>
            <a:r>
              <a:rPr sz="1400" b="0" i="0">
                <a:solidFill>
                  <a:srgbClr val="242424"/>
                </a:solidFill>
                <a:latin typeface="Liberation Sans"/>
                <a:ea typeface="Liberation Sans"/>
                <a:cs typeface="Liberation Sans"/>
              </a:rPr>
              <a:t>Build vs buy hides the real bill.</a:t>
            </a:r>
          </a:p>
        </p:txBody>
      </p:sp>
      <p:sp>
        <p:nvSpPr>
          <p:cNvPr id="6" name="Rounded Rectangle 5"/>
          <p:cNvSpPr/>
          <p:nvPr/>
        </p:nvSpPr>
        <p:spPr>
          <a:xfrm>
            <a:off x="4297680" y="1600200"/>
            <a:ext cx="3611880" cy="205740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600"/>
              </a:spcAft>
            </a:pPr>
            <a:r>
              <a:rPr sz="1200" b="1" i="0">
                <a:solidFill>
                  <a:srgbClr val="C45C26"/>
                </a:solidFill>
                <a:latin typeface="Liberation Sans"/>
                <a:ea typeface="Liberation Sans"/>
                <a:cs typeface="Liberation Sans"/>
              </a:rPr>
              <a:t>10–25 min</a:t>
            </a:r>
          </a:p>
          <a:p>
            <a:pPr algn="l">
              <a:spcBef>
                <a:spcPts val="0"/>
              </a:spcBef>
              <a:spcAft>
                <a:spcPts val="800"/>
              </a:spcAft>
            </a:pPr>
            <a:r>
              <a:rPr sz="2000" b="1" i="0">
                <a:solidFill>
                  <a:srgbClr val="1B2A4A"/>
                </a:solidFill>
                <a:latin typeface="Liberation Serif"/>
                <a:ea typeface="Liberation Serif"/>
                <a:cs typeface="Liberation Serif"/>
              </a:rPr>
              <a:t>Complexity relocates</a:t>
            </a:r>
          </a:p>
          <a:p>
            <a:pPr algn="l">
              <a:spcBef>
                <a:spcPts val="0"/>
              </a:spcBef>
              <a:spcAft>
                <a:spcPts val="0"/>
              </a:spcAft>
            </a:pPr>
            <a:r>
              <a:rPr sz="1400" b="0" i="0">
                <a:solidFill>
                  <a:srgbClr val="242424"/>
                </a:solidFill>
                <a:latin typeface="Liberation Sans"/>
                <a:ea typeface="Liberation Sans"/>
                <a:cs typeface="Liberation Sans"/>
              </a:rPr>
              <a:t>Less code is not less complexity.</a:t>
            </a:r>
          </a:p>
        </p:txBody>
      </p:sp>
      <p:sp>
        <p:nvSpPr>
          <p:cNvPr id="7" name="Rounded Rectangle 6"/>
          <p:cNvSpPr/>
          <p:nvPr/>
        </p:nvSpPr>
        <p:spPr>
          <a:xfrm>
            <a:off x="8092440" y="1600200"/>
            <a:ext cx="3611880" cy="205740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600"/>
              </a:spcAft>
            </a:pPr>
            <a:r>
              <a:rPr sz="1200" b="1" i="0">
                <a:solidFill>
                  <a:srgbClr val="C45C26"/>
                </a:solidFill>
                <a:latin typeface="Liberation Sans"/>
                <a:ea typeface="Liberation Sans"/>
                <a:cs typeface="Liberation Sans"/>
              </a:rPr>
              <a:t>25–42 min</a:t>
            </a:r>
          </a:p>
          <a:p>
            <a:pPr algn="l">
              <a:spcBef>
                <a:spcPts val="0"/>
              </a:spcBef>
              <a:spcAft>
                <a:spcPts val="800"/>
              </a:spcAft>
            </a:pPr>
            <a:r>
              <a:rPr sz="2000" b="1" i="0">
                <a:solidFill>
                  <a:srgbClr val="1B2A4A"/>
                </a:solidFill>
                <a:latin typeface="Liberation Serif"/>
                <a:ea typeface="Liberation Serif"/>
                <a:cs typeface="Liberation Serif"/>
              </a:rPr>
              <a:t>Mental models &amp; tax</a:t>
            </a:r>
          </a:p>
          <a:p>
            <a:pPr algn="l">
              <a:spcBef>
                <a:spcPts val="0"/>
              </a:spcBef>
              <a:spcAft>
                <a:spcPts val="0"/>
              </a:spcAft>
            </a:pPr>
            <a:r>
              <a:rPr sz="1400" b="0" i="0">
                <a:solidFill>
                  <a:srgbClr val="242424"/>
                </a:solidFill>
                <a:latin typeface="Liberation Sans"/>
                <a:ea typeface="Liberation Sans"/>
                <a:cs typeface="Liberation Sans"/>
              </a:rPr>
              <a:t>Elegance, gravity, four costs.</a:t>
            </a:r>
          </a:p>
        </p:txBody>
      </p:sp>
      <p:sp>
        <p:nvSpPr>
          <p:cNvPr id="8" name="Rounded Rectangle 7"/>
          <p:cNvSpPr/>
          <p:nvPr/>
        </p:nvSpPr>
        <p:spPr>
          <a:xfrm>
            <a:off x="502920" y="3840480"/>
            <a:ext cx="3611880" cy="205740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600"/>
              </a:spcAft>
            </a:pPr>
            <a:r>
              <a:rPr sz="1200" b="1" i="0">
                <a:solidFill>
                  <a:srgbClr val="C45C26"/>
                </a:solidFill>
                <a:latin typeface="Liberation Sans"/>
                <a:ea typeface="Liberation Sans"/>
                <a:cs typeface="Liberation Sans"/>
              </a:rPr>
              <a:t>42–55 min</a:t>
            </a:r>
          </a:p>
          <a:p>
            <a:pPr algn="l">
              <a:spcBef>
                <a:spcPts val="0"/>
              </a:spcBef>
              <a:spcAft>
                <a:spcPts val="800"/>
              </a:spcAft>
            </a:pPr>
            <a:r>
              <a:rPr sz="2000" b="1" i="0">
                <a:solidFill>
                  <a:srgbClr val="1B2A4A"/>
                </a:solidFill>
                <a:latin typeface="Liberation Serif"/>
                <a:ea typeface="Liberation Serif"/>
                <a:cs typeface="Liberation Serif"/>
              </a:rPr>
              <a:t>Who should own it</a:t>
            </a:r>
          </a:p>
          <a:p>
            <a:pPr algn="l">
              <a:spcBef>
                <a:spcPts val="0"/>
              </a:spcBef>
              <a:spcAft>
                <a:spcPts val="0"/>
              </a:spcAft>
            </a:pPr>
            <a:r>
              <a:rPr sz="1400" b="0" i="0">
                <a:solidFill>
                  <a:srgbClr val="242424"/>
                </a:solidFill>
                <a:latin typeface="Liberation Sans"/>
                <a:ea typeface="Liberation Sans"/>
                <a:cs typeface="Liberation Sans"/>
              </a:rPr>
              <a:t>A default for code-owned systems.</a:t>
            </a:r>
          </a:p>
        </p:txBody>
      </p:sp>
      <p:sp>
        <p:nvSpPr>
          <p:cNvPr id="9" name="Rounded Rectangle 8"/>
          <p:cNvSpPr/>
          <p:nvPr/>
        </p:nvSpPr>
        <p:spPr>
          <a:xfrm>
            <a:off x="4297680" y="3840480"/>
            <a:ext cx="3611880" cy="205740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600"/>
              </a:spcAft>
            </a:pPr>
            <a:r>
              <a:rPr sz="1200" b="1" i="0">
                <a:solidFill>
                  <a:srgbClr val="C45C26"/>
                </a:solidFill>
                <a:latin typeface="Liberation Sans"/>
                <a:ea typeface="Liberation Sans"/>
                <a:cs typeface="Liberation Sans"/>
              </a:rPr>
              <a:t>55–78 min</a:t>
            </a:r>
          </a:p>
          <a:p>
            <a:pPr algn="l">
              <a:spcBef>
                <a:spcPts val="0"/>
              </a:spcBef>
              <a:spcAft>
                <a:spcPts val="800"/>
              </a:spcAft>
            </a:pPr>
            <a:r>
              <a:rPr sz="2000" b="1" i="0">
                <a:solidFill>
                  <a:srgbClr val="1B2A4A"/>
                </a:solidFill>
                <a:latin typeface="Liberation Serif"/>
                <a:ea typeface="Liberation Serif"/>
                <a:cs typeface="Liberation Serif"/>
              </a:rPr>
              <a:t>AI changes the equation</a:t>
            </a:r>
          </a:p>
          <a:p>
            <a:pPr algn="l">
              <a:spcBef>
                <a:spcPts val="0"/>
              </a:spcBef>
              <a:spcAft>
                <a:spcPts val="0"/>
              </a:spcAft>
            </a:pPr>
            <a:r>
              <a:rPr sz="1400" b="0" i="0">
                <a:solidFill>
                  <a:srgbClr val="242424"/>
                </a:solidFill>
                <a:latin typeface="Liberation Sans"/>
                <a:ea typeface="Liberation Sans"/>
                <a:cs typeface="Liberation Sans"/>
              </a:rPr>
              <a:t>Labor vs ownership vs acceptance.</a:t>
            </a:r>
          </a:p>
        </p:txBody>
      </p:sp>
      <p:sp>
        <p:nvSpPr>
          <p:cNvPr id="10" name="Rounded Rectangle 9"/>
          <p:cNvSpPr/>
          <p:nvPr/>
        </p:nvSpPr>
        <p:spPr>
          <a:xfrm>
            <a:off x="8092440" y="3840480"/>
            <a:ext cx="3611880" cy="205740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600"/>
              </a:spcAft>
            </a:pPr>
            <a:r>
              <a:rPr sz="1200" b="1" i="0">
                <a:solidFill>
                  <a:srgbClr val="C45C26"/>
                </a:solidFill>
                <a:latin typeface="Liberation Sans"/>
                <a:ea typeface="Liberation Sans"/>
                <a:cs typeface="Liberation Sans"/>
              </a:rPr>
              <a:t>78–90 min</a:t>
            </a:r>
          </a:p>
          <a:p>
            <a:pPr algn="l">
              <a:spcBef>
                <a:spcPts val="0"/>
              </a:spcBef>
              <a:spcAft>
                <a:spcPts val="800"/>
              </a:spcAft>
            </a:pPr>
            <a:r>
              <a:rPr sz="2000" b="1" i="0">
                <a:solidFill>
                  <a:srgbClr val="1B2A4A"/>
                </a:solidFill>
                <a:latin typeface="Liberation Serif"/>
                <a:ea typeface="Liberation Serif"/>
                <a:cs typeface="Liberation Serif"/>
              </a:rPr>
              <a:t>A decision framework</a:t>
            </a:r>
          </a:p>
          <a:p>
            <a:pPr algn="l">
              <a:spcBef>
                <a:spcPts val="0"/>
              </a:spcBef>
              <a:spcAft>
                <a:spcPts val="0"/>
              </a:spcAft>
            </a:pPr>
            <a:r>
              <a:rPr sz="1400" b="0" i="0">
                <a:solidFill>
                  <a:srgbClr val="242424"/>
                </a:solidFill>
                <a:latin typeface="Liberation Sans"/>
                <a:ea typeface="Liberation Sans"/>
                <a:cs typeface="Liberation Sans"/>
              </a:rPr>
              <a:t>Questions, takeaways, discussion.</a:t>
            </a:r>
          </a:p>
        </p:txBody>
      </p:sp>
      <p:sp>
        <p:nvSpPr>
          <p:cNvPr id="11" name="Rectangle 10"/>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2" name="TextBox 11"/>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Opening   ·   2 / 51</a:t>
            </a:r>
          </a:p>
        </p:txBody>
      </p:sp>
      <p:sp>
        <p:nvSpPr>
          <p:cNvPr id="13" name="Rectangle 12"/>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USUAL ADVICE</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Don't reinvent the wheel.</a:t>
            </a:r>
          </a:p>
          <a:p>
            <a:pPr algn="l">
              <a:spcBef>
                <a:spcPts val="0"/>
              </a:spcBef>
              <a:spcAft>
                <a:spcPts val="600"/>
              </a:spcAft>
            </a:pPr>
            <a:r>
              <a:rPr sz="1600" b="0" i="0">
                <a:solidFill>
                  <a:srgbClr val="5A6570"/>
                </a:solidFill>
                <a:latin typeface="Liberation Sans"/>
                <a:ea typeface="Liberation Sans"/>
                <a:cs typeface="Liberation Sans"/>
              </a:rPr>
              <a:t>Usually correct. Incomplete as an economic test.</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Opening   ·   3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HOW WE EVALUATE DELEGATION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000" b="1" i="0">
                <a:solidFill>
                  <a:srgbClr val="1B2A4A"/>
                </a:solidFill>
                <a:latin typeface="Liberation Serif"/>
                <a:ea typeface="Liberation Serif"/>
                <a:cs typeface="Liberation Serif"/>
              </a:rPr>
              <a:t>We measure the work that disappears</a:t>
            </a:r>
          </a:p>
        </p:txBody>
      </p:sp>
      <p:sp>
        <p:nvSpPr>
          <p:cNvPr id="5" name="TextBox 4"/>
          <p:cNvSpPr txBox="1"/>
          <p:nvPr/>
        </p:nvSpPr>
        <p:spPr>
          <a:xfrm>
            <a:off x="502920" y="1554480"/>
            <a:ext cx="11155680" cy="4754880"/>
          </a:xfrm>
          <a:prstGeom prst="rect">
            <a:avLst/>
          </a:prstGeom>
          <a:noFill/>
        </p:spPr>
        <p:txBody>
          <a:bodyPr wrap="square" lIns="0" rIns="0" tIns="0" bIns="0"/>
          <a:lstStyle/>
          <a:p>
            <a:pPr algn="l">
              <a:spcBef>
                <a:spcPts val="0"/>
              </a:spcBef>
              <a:spcAft>
                <a:spcPts val="1800"/>
              </a:spcAft>
            </a:pPr>
            <a:r>
              <a:rPr sz="2200" b="0" i="0">
                <a:solidFill>
                  <a:srgbClr val="242424"/>
                </a:solidFill>
                <a:latin typeface="Liberation Sans"/>
                <a:ea typeface="Liberation Sans"/>
                <a:cs typeface="Liberation Sans"/>
              </a:rPr>
              <a:t>▸  A tool can delete thousands of lines and install a mental model.</a:t>
            </a:r>
          </a:p>
          <a:p>
            <a:pPr algn="l">
              <a:spcBef>
                <a:spcPts val="0"/>
              </a:spcBef>
              <a:spcAft>
                <a:spcPts val="1800"/>
              </a:spcAft>
            </a:pPr>
            <a:r>
              <a:rPr sz="2200" b="0" i="0">
                <a:solidFill>
                  <a:srgbClr val="242424"/>
                </a:solidFill>
                <a:latin typeface="Liberation Sans"/>
                <a:ea typeface="Liberation Sans"/>
                <a:cs typeface="Liberation Sans"/>
              </a:rPr>
              <a:t>▸  A framework can clean the app and capture how the team thinks.</a:t>
            </a:r>
          </a:p>
          <a:p>
            <a:pPr algn="l">
              <a:spcBef>
                <a:spcPts val="0"/>
              </a:spcBef>
              <a:spcAft>
                <a:spcPts val="1800"/>
              </a:spcAft>
            </a:pPr>
            <a:r>
              <a:rPr sz="2200" b="0" i="0">
                <a:solidFill>
                  <a:srgbClr val="242424"/>
                </a:solidFill>
                <a:latin typeface="Liberation Sans"/>
                <a:ea typeface="Liberation Sans"/>
                <a:cs typeface="Liberation Sans"/>
              </a:rPr>
              <a:t>▸  A programming model can make concurrency elegant — and global.</a:t>
            </a:r>
          </a:p>
          <a:p>
            <a:pPr algn="l">
              <a:spcBef>
                <a:spcPts val="0"/>
              </a:spcBef>
              <a:spcAft>
                <a:spcPts val="1800"/>
              </a:spcAft>
            </a:pPr>
            <a:r>
              <a:rPr sz="2200" b="0" i="0">
                <a:solidFill>
                  <a:srgbClr val="242424"/>
                </a:solidFill>
                <a:latin typeface="Liberation Sans"/>
                <a:ea typeface="Liberation Sans"/>
                <a:cs typeface="Liberation Sans"/>
              </a:rPr>
              <a:t>▸  An agent can ship a feature in minutes and create a verification problem.</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Opening   ·   4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THESIS</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Delegation is an architectural and economic decision about where complexity will live and who will own it.</a:t>
            </a:r>
          </a:p>
          <a:p>
            <a:pPr algn="l">
              <a:spcBef>
                <a:spcPts val="0"/>
              </a:spcBef>
              <a:spcAft>
                <a:spcPts val="600"/>
              </a:spcAft>
            </a:pPr>
            <a:r>
              <a:rPr sz="1600" b="0" i="0">
                <a:solidFill>
                  <a:srgbClr val="5A6570"/>
                </a:solidFill>
                <a:latin typeface="Liberation Sans"/>
                <a:ea typeface="Liberation Sans"/>
                <a:cs typeface="Liberation Sans"/>
              </a:rPr>
              <a:t>Once this is the starting point, unrelated choices look like the same problem.</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Opening   ·   5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3840480"/>
          </a:xfrm>
          <a:prstGeom prst="rect">
            <a:avLst/>
          </a:prstGeom>
          <a:noFill/>
        </p:spPr>
        <p:txBody>
          <a:bodyPr wrap="square" lIns="0" rIns="0" tIns="0" bIns="0"/>
          <a:lstStyle/>
          <a:p>
            <a:pPr algn="l">
              <a:spcBef>
                <a:spcPts val="0"/>
              </a:spcBef>
              <a:spcAft>
                <a:spcPts val="1400"/>
              </a:spcAft>
            </a:pPr>
            <a:r>
              <a:rPr sz="1600" b="1" i="0">
                <a:solidFill>
                  <a:srgbClr val="B88C4A"/>
                </a:solidFill>
                <a:latin typeface="Liberation Sans"/>
                <a:ea typeface="Liberation Sans"/>
                <a:cs typeface="Liberation Sans"/>
              </a:rPr>
              <a:t>Part I  ·  ≈ 10 minutes</a:t>
            </a:r>
          </a:p>
          <a:p>
            <a:pPr algn="l">
              <a:spcBef>
                <a:spcPts val="0"/>
              </a:spcBef>
              <a:spcAft>
                <a:spcPts val="1600"/>
              </a:spcAft>
            </a:pPr>
            <a:r>
              <a:rPr sz="4000" b="1" i="0">
                <a:solidFill>
                  <a:srgbClr val="FFFFFF"/>
                </a:solidFill>
                <a:latin typeface="Liberation Serif"/>
                <a:ea typeface="Liberation Serif"/>
                <a:cs typeface="Liberation Serif"/>
              </a:rPr>
              <a:t>The wrong question</a:t>
            </a:r>
          </a:p>
          <a:p>
            <a:pPr algn="l">
              <a:spcBef>
                <a:spcPts val="0"/>
              </a:spcBef>
              <a:spcAft>
                <a:spcPts val="600"/>
              </a:spcAft>
            </a:pPr>
            <a:r>
              <a:rPr sz="2000" b="0" i="0">
                <a:solidFill>
                  <a:srgbClr val="FFF8EF"/>
                </a:solidFill>
                <a:latin typeface="Liberation Sans"/>
                <a:ea typeface="Liberation Sans"/>
                <a:cs typeface="Liberation Sans"/>
              </a:rPr>
              <a:t>Build versus buy, as usually presented, is a false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PROPOSAL THAT WINS THE MEETING</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How the comparison is sold</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Build</a:t>
            </a:r>
          </a:p>
          <a:p>
            <a:pPr algn="l">
              <a:spcBef>
                <a:spcPts val="0"/>
              </a:spcBef>
              <a:spcAft>
                <a:spcPts val="1000"/>
              </a:spcAft>
            </a:pPr>
            <a:r>
              <a:rPr sz="2000" b="0" i="0">
                <a:solidFill>
                  <a:srgbClr val="242424"/>
                </a:solidFill>
                <a:latin typeface="Liberation Sans"/>
                <a:ea typeface="Liberation Sans"/>
                <a:cs typeface="Liberation Sans"/>
              </a:rPr>
              <a:t>•  2 weeks</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Use the tool</a:t>
            </a:r>
          </a:p>
          <a:p>
            <a:pPr algn="l">
              <a:spcBef>
                <a:spcPts val="0"/>
              </a:spcBef>
              <a:spcAft>
                <a:spcPts val="1000"/>
              </a:spcAft>
            </a:pPr>
            <a:r>
              <a:rPr sz="2000" b="0" i="0">
                <a:solidFill>
                  <a:srgbClr val="FFF8EF"/>
                </a:solidFill>
                <a:latin typeface="Liberation Sans"/>
                <a:ea typeface="Liberation Sans"/>
                <a:cs typeface="Liberation Sans"/>
              </a:rPr>
              <a:t>•  2 days</a:t>
            </a:r>
          </a:p>
          <a:p>
            <a:pPr algn="l">
              <a:spcBef>
                <a:spcPts val="0"/>
              </a:spcBef>
              <a:spcAft>
                <a:spcPts val="1000"/>
              </a:spcAft>
            </a:pPr>
            <a:r>
              <a:rPr sz="2000" b="0" i="0">
                <a:solidFill>
                  <a:srgbClr val="FFF8EF"/>
                </a:solidFill>
                <a:latin typeface="Liberation Sans"/>
                <a:ea typeface="Liberation Sans"/>
                <a:cs typeface="Liberation Sans"/>
              </a:rPr>
              <a:t>•  The tool wins.</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The wrong question   ·   7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WHAT THE COMPARISON ACTUALLY CONTAINS</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The real bill</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Build</a:t>
            </a:r>
          </a:p>
          <a:p>
            <a:pPr algn="l">
              <a:spcBef>
                <a:spcPts val="0"/>
              </a:spcBef>
              <a:spcAft>
                <a:spcPts val="1000"/>
              </a:spcAft>
            </a:pPr>
            <a:r>
              <a:rPr sz="1600" b="0" i="0">
                <a:solidFill>
                  <a:srgbClr val="242424"/>
                </a:solidFill>
                <a:latin typeface="Liberation Sans"/>
                <a:ea typeface="Liberation Sans"/>
                <a:cs typeface="Liberation Sans"/>
              </a:rPr>
              <a:t>•  implementation</a:t>
            </a:r>
          </a:p>
          <a:p>
            <a:pPr algn="l">
              <a:spcBef>
                <a:spcPts val="0"/>
              </a:spcBef>
              <a:spcAft>
                <a:spcPts val="1000"/>
              </a:spcAft>
            </a:pPr>
            <a:r>
              <a:rPr sz="1600" b="0" i="0">
                <a:solidFill>
                  <a:srgbClr val="242424"/>
                </a:solidFill>
                <a:latin typeface="Liberation Sans"/>
                <a:ea typeface="Liberation Sans"/>
                <a:cs typeface="Liberation Sans"/>
              </a:rPr>
              <a:t>•  testing</a:t>
            </a:r>
          </a:p>
          <a:p>
            <a:pPr algn="l">
              <a:spcBef>
                <a:spcPts val="0"/>
              </a:spcBef>
              <a:spcAft>
                <a:spcPts val="1000"/>
              </a:spcAft>
            </a:pPr>
            <a:r>
              <a:rPr sz="1600" b="0" i="0">
                <a:solidFill>
                  <a:srgbClr val="242424"/>
                </a:solidFill>
                <a:latin typeface="Liberation Sans"/>
                <a:ea typeface="Liberation Sans"/>
                <a:cs typeface="Liberation Sans"/>
              </a:rPr>
              <a:t>•  maintenance</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Use the tool</a:t>
            </a:r>
          </a:p>
          <a:p>
            <a:pPr algn="l">
              <a:spcBef>
                <a:spcPts val="0"/>
              </a:spcBef>
              <a:spcAft>
                <a:spcPts val="1000"/>
              </a:spcAft>
            </a:pPr>
            <a:r>
              <a:rPr sz="1600" b="0" i="0">
                <a:solidFill>
                  <a:srgbClr val="FFF8EF"/>
                </a:solidFill>
                <a:latin typeface="Liberation Sans"/>
                <a:ea typeface="Liberation Sans"/>
                <a:cs typeface="Liberation Sans"/>
              </a:rPr>
              <a:t>•  learning · integration · configuration</a:t>
            </a:r>
          </a:p>
          <a:p>
            <a:pPr algn="l">
              <a:spcBef>
                <a:spcPts val="0"/>
              </a:spcBef>
              <a:spcAft>
                <a:spcPts val="1000"/>
              </a:spcAft>
            </a:pPr>
            <a:r>
              <a:rPr sz="1600" b="0" i="0">
                <a:solidFill>
                  <a:srgbClr val="FFF8EF"/>
                </a:solidFill>
                <a:latin typeface="Liberation Sans"/>
                <a:ea typeface="Liberation Sans"/>
                <a:cs typeface="Liberation Sans"/>
              </a:rPr>
              <a:t>•  operational knowledge · debugging</a:t>
            </a:r>
          </a:p>
          <a:p>
            <a:pPr algn="l">
              <a:spcBef>
                <a:spcPts val="0"/>
              </a:spcBef>
              <a:spcAft>
                <a:spcPts val="1000"/>
              </a:spcAft>
            </a:pPr>
            <a:r>
              <a:rPr sz="1600" b="0" i="0">
                <a:solidFill>
                  <a:srgbClr val="FFF8EF"/>
                </a:solidFill>
                <a:latin typeface="Liberation Sans"/>
                <a:ea typeface="Liberation Sans"/>
                <a:cs typeface="Liberation Sans"/>
              </a:rPr>
              <a:t>•  upgrades · limitations · workarounds</a:t>
            </a:r>
          </a:p>
          <a:p>
            <a:pPr algn="l">
              <a:spcBef>
                <a:spcPts val="0"/>
              </a:spcBef>
              <a:spcAft>
                <a:spcPts val="1000"/>
              </a:spcAft>
            </a:pPr>
            <a:r>
              <a:rPr sz="1600" b="0" i="0">
                <a:solidFill>
                  <a:srgbClr val="FFF8EF"/>
                </a:solidFill>
                <a:latin typeface="Liberation Sans"/>
                <a:ea typeface="Liberation Sans"/>
                <a:cs typeface="Liberation Sans"/>
              </a:rPr>
              <a:t>•  dependency management · migration</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The wrong question   ·   8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REPLACE THE METRIC</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Not: how much code does this save?</a:t>
            </a:r>
          </a:p>
          <a:p>
            <a:pPr algn="l">
              <a:spcBef>
                <a:spcPts val="0"/>
              </a:spcBef>
              <a:spcAft>
                <a:spcPts val="600"/>
              </a:spcAft>
            </a:pPr>
            <a:r>
              <a:rPr sz="1600" b="0" i="0">
                <a:solidFill>
                  <a:srgbClr val="5A6570"/>
                </a:solidFill>
                <a:latin typeface="Liberation Sans"/>
                <a:ea typeface="Liberation Sans"/>
                <a:cs typeface="Liberation Sans"/>
              </a:rPr>
              <a:t>Ask: what is the total engineering cost of owning this decision?</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The wrong question   ·   9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3840480"/>
          </a:xfrm>
          <a:prstGeom prst="rect">
            <a:avLst/>
          </a:prstGeom>
          <a:noFill/>
        </p:spPr>
        <p:txBody>
          <a:bodyPr wrap="square" lIns="0" rIns="0" tIns="0" bIns="0"/>
          <a:lstStyle/>
          <a:p>
            <a:pPr algn="l">
              <a:spcBef>
                <a:spcPts val="0"/>
              </a:spcBef>
              <a:spcAft>
                <a:spcPts val="1400"/>
              </a:spcAft>
            </a:pPr>
            <a:r>
              <a:rPr sz="1600" b="1" i="0">
                <a:solidFill>
                  <a:srgbClr val="B88C4A"/>
                </a:solidFill>
                <a:latin typeface="Liberation Sans"/>
                <a:ea typeface="Liberation Sans"/>
                <a:cs typeface="Liberation Sans"/>
              </a:rPr>
              <a:t>Part II  ·  ≈ 15 minutes</a:t>
            </a:r>
          </a:p>
          <a:p>
            <a:pPr algn="l">
              <a:spcBef>
                <a:spcPts val="0"/>
              </a:spcBef>
              <a:spcAft>
                <a:spcPts val="1600"/>
              </a:spcAft>
            </a:pPr>
            <a:r>
              <a:rPr sz="4000" b="1" i="0">
                <a:solidFill>
                  <a:srgbClr val="FFFFFF"/>
                </a:solidFill>
                <a:latin typeface="Liberation Serif"/>
                <a:ea typeface="Liberation Serif"/>
                <a:cs typeface="Liberation Serif"/>
              </a:rPr>
              <a:t>Complexity relocates</a:t>
            </a:r>
          </a:p>
          <a:p>
            <a:pPr algn="l">
              <a:spcBef>
                <a:spcPts val="0"/>
              </a:spcBef>
              <a:spcAft>
                <a:spcPts val="600"/>
              </a:spcAft>
            </a:pPr>
            <a:r>
              <a:rPr sz="2000" b="0" i="0">
                <a:solidFill>
                  <a:srgbClr val="FFF8EF"/>
                </a:solidFill>
                <a:latin typeface="Liberation Sans"/>
                <a:ea typeface="Liberation Sans"/>
                <a:cs typeface="Liberation Sans"/>
              </a:rPr>
              <a:t>Less code and less complexity are not the same 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COMPLEXITY DOES NOT DISAPPEAR</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It is relocated</a:t>
            </a:r>
          </a:p>
        </p:txBody>
      </p:sp>
      <p:sp>
        <p:nvSpPr>
          <p:cNvPr id="5" name="TextBox 4"/>
          <p:cNvSpPr txBox="1"/>
          <p:nvPr/>
        </p:nvSpPr>
        <p:spPr>
          <a:xfrm>
            <a:off x="502920" y="1508760"/>
            <a:ext cx="2606040" cy="365760"/>
          </a:xfrm>
          <a:prstGeom prst="rect">
            <a:avLst/>
          </a:prstGeom>
          <a:noFill/>
        </p:spPr>
        <p:txBody>
          <a:bodyPr wrap="square" lIns="0" rIns="0" tIns="0" bIns="0"/>
          <a:lstStyle/>
          <a:p>
            <a:pPr algn="ctr">
              <a:spcBef>
                <a:spcPts val="0"/>
              </a:spcBef>
              <a:spcAft>
                <a:spcPts val="600"/>
              </a:spcAft>
            </a:pPr>
            <a:r>
              <a:rPr sz="1600" b="1" i="0">
                <a:solidFill>
                  <a:srgbClr val="C45C26"/>
                </a:solidFill>
                <a:latin typeface="Liberation Sans"/>
                <a:ea typeface="Liberation Sans"/>
                <a:cs typeface="Liberation Sans"/>
              </a:rPr>
              <a:t>Build it</a:t>
            </a:r>
          </a:p>
        </p:txBody>
      </p:sp>
      <p:sp>
        <p:nvSpPr>
          <p:cNvPr id="6" name="Rounded Rectangle 5"/>
          <p:cNvSpPr/>
          <p:nvPr/>
        </p:nvSpPr>
        <p:spPr>
          <a:xfrm>
            <a:off x="502920" y="192024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Application</a:t>
            </a:r>
          </a:p>
        </p:txBody>
      </p:sp>
      <p:sp>
        <p:nvSpPr>
          <p:cNvPr id="7" name="Rounded Rectangle 6"/>
          <p:cNvSpPr/>
          <p:nvPr/>
        </p:nvSpPr>
        <p:spPr>
          <a:xfrm>
            <a:off x="502920" y="288036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Our code</a:t>
            </a:r>
          </a:p>
        </p:txBody>
      </p:sp>
      <p:sp>
        <p:nvSpPr>
          <p:cNvPr id="8" name="Rounded Rectangle 7"/>
          <p:cNvSpPr/>
          <p:nvPr/>
        </p:nvSpPr>
        <p:spPr>
          <a:xfrm>
            <a:off x="502920" y="3840480"/>
            <a:ext cx="2606040" cy="841248"/>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FFFFFF"/>
                </a:solidFill>
                <a:latin typeface="Liberation Sans"/>
                <a:ea typeface="Liberation Sans"/>
                <a:cs typeface="Liberation Sans"/>
              </a:rPr>
              <a:t>Our complexity</a:t>
            </a:r>
          </a:p>
        </p:txBody>
      </p:sp>
      <p:sp>
        <p:nvSpPr>
          <p:cNvPr id="9" name="TextBox 8"/>
          <p:cNvSpPr txBox="1"/>
          <p:nvPr/>
        </p:nvSpPr>
        <p:spPr>
          <a:xfrm>
            <a:off x="502920" y="4892040"/>
            <a:ext cx="2606040" cy="640080"/>
          </a:xfrm>
          <a:prstGeom prst="rect">
            <a:avLst/>
          </a:prstGeom>
          <a:noFill/>
        </p:spPr>
        <p:txBody>
          <a:bodyPr wrap="square" lIns="0" rIns="0" tIns="0" bIns="0"/>
          <a:lstStyle/>
          <a:p>
            <a:pPr algn="ctr">
              <a:spcBef>
                <a:spcPts val="0"/>
              </a:spcBef>
              <a:spcAft>
                <a:spcPts val="600"/>
              </a:spcAft>
            </a:pPr>
            <a:r>
              <a:rPr sz="1300" b="0" i="1">
                <a:solidFill>
                  <a:srgbClr val="5A6570"/>
                </a:solidFill>
                <a:latin typeface="Liberation Sans"/>
                <a:ea typeface="Liberation Sans"/>
                <a:cs typeface="Liberation Sans"/>
              </a:rPr>
              <a:t>You own it</a:t>
            </a:r>
          </a:p>
        </p:txBody>
      </p:sp>
      <p:sp>
        <p:nvSpPr>
          <p:cNvPr id="10" name="TextBox 9"/>
          <p:cNvSpPr txBox="1"/>
          <p:nvPr/>
        </p:nvSpPr>
        <p:spPr>
          <a:xfrm>
            <a:off x="3383280" y="1508760"/>
            <a:ext cx="2606040" cy="365760"/>
          </a:xfrm>
          <a:prstGeom prst="rect">
            <a:avLst/>
          </a:prstGeom>
          <a:noFill/>
        </p:spPr>
        <p:txBody>
          <a:bodyPr wrap="square" lIns="0" rIns="0" tIns="0" bIns="0"/>
          <a:lstStyle/>
          <a:p>
            <a:pPr algn="ctr">
              <a:spcBef>
                <a:spcPts val="0"/>
              </a:spcBef>
              <a:spcAft>
                <a:spcPts val="600"/>
              </a:spcAft>
            </a:pPr>
            <a:r>
              <a:rPr sz="1600" b="1" i="0">
                <a:solidFill>
                  <a:srgbClr val="C45C26"/>
                </a:solidFill>
                <a:latin typeface="Liberation Sans"/>
                <a:ea typeface="Liberation Sans"/>
                <a:cs typeface="Liberation Sans"/>
              </a:rPr>
              <a:t>Library</a:t>
            </a:r>
          </a:p>
        </p:txBody>
      </p:sp>
      <p:sp>
        <p:nvSpPr>
          <p:cNvPr id="11" name="Rounded Rectangle 10"/>
          <p:cNvSpPr/>
          <p:nvPr/>
        </p:nvSpPr>
        <p:spPr>
          <a:xfrm>
            <a:off x="3383280" y="192024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Application</a:t>
            </a:r>
          </a:p>
        </p:txBody>
      </p:sp>
      <p:sp>
        <p:nvSpPr>
          <p:cNvPr id="12" name="Rounded Rectangle 11"/>
          <p:cNvSpPr/>
          <p:nvPr/>
        </p:nvSpPr>
        <p:spPr>
          <a:xfrm>
            <a:off x="3383280" y="288036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Our code</a:t>
            </a:r>
          </a:p>
        </p:txBody>
      </p:sp>
      <p:sp>
        <p:nvSpPr>
          <p:cNvPr id="13" name="Rounded Rectangle 12"/>
          <p:cNvSpPr/>
          <p:nvPr/>
        </p:nvSpPr>
        <p:spPr>
          <a:xfrm>
            <a:off x="3383280" y="3840480"/>
            <a:ext cx="2606040" cy="841248"/>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FFFFFF"/>
                </a:solidFill>
                <a:latin typeface="Liberation Sans"/>
                <a:ea typeface="Liberation Sans"/>
                <a:cs typeface="Liberation Sans"/>
              </a:rPr>
              <a:t>Library</a:t>
            </a:r>
          </a:p>
        </p:txBody>
      </p:sp>
      <p:sp>
        <p:nvSpPr>
          <p:cNvPr id="14" name="TextBox 13"/>
          <p:cNvSpPr txBox="1"/>
          <p:nvPr/>
        </p:nvSpPr>
        <p:spPr>
          <a:xfrm>
            <a:off x="3383280" y="4892040"/>
            <a:ext cx="2606040" cy="640080"/>
          </a:xfrm>
          <a:prstGeom prst="rect">
            <a:avLst/>
          </a:prstGeom>
          <a:noFill/>
        </p:spPr>
        <p:txBody>
          <a:bodyPr wrap="square" lIns="0" rIns="0" tIns="0" bIns="0"/>
          <a:lstStyle/>
          <a:p>
            <a:pPr algn="ctr">
              <a:spcBef>
                <a:spcPts val="0"/>
              </a:spcBef>
              <a:spcAft>
                <a:spcPts val="600"/>
              </a:spcAft>
            </a:pPr>
            <a:r>
              <a:rPr sz="1300" b="0" i="1">
                <a:solidFill>
                  <a:srgbClr val="5A6570"/>
                </a:solidFill>
                <a:latin typeface="Liberation Sans"/>
                <a:ea typeface="Liberation Sans"/>
                <a:cs typeface="Liberation Sans"/>
              </a:rPr>
              <a:t>Mechanism moves</a:t>
            </a:r>
          </a:p>
        </p:txBody>
      </p:sp>
      <p:sp>
        <p:nvSpPr>
          <p:cNvPr id="15" name="TextBox 14"/>
          <p:cNvSpPr txBox="1"/>
          <p:nvPr/>
        </p:nvSpPr>
        <p:spPr>
          <a:xfrm>
            <a:off x="6263640" y="1508760"/>
            <a:ext cx="2606040" cy="365760"/>
          </a:xfrm>
          <a:prstGeom prst="rect">
            <a:avLst/>
          </a:prstGeom>
          <a:noFill/>
        </p:spPr>
        <p:txBody>
          <a:bodyPr wrap="square" lIns="0" rIns="0" tIns="0" bIns="0"/>
          <a:lstStyle/>
          <a:p>
            <a:pPr algn="ctr">
              <a:spcBef>
                <a:spcPts val="0"/>
              </a:spcBef>
              <a:spcAft>
                <a:spcPts val="600"/>
              </a:spcAft>
            </a:pPr>
            <a:r>
              <a:rPr sz="1600" b="1" i="0">
                <a:solidFill>
                  <a:srgbClr val="C45C26"/>
                </a:solidFill>
                <a:latin typeface="Liberation Sans"/>
                <a:ea typeface="Liberation Sans"/>
                <a:cs typeface="Liberation Sans"/>
              </a:rPr>
              <a:t>Framework</a:t>
            </a:r>
          </a:p>
        </p:txBody>
      </p:sp>
      <p:sp>
        <p:nvSpPr>
          <p:cNvPr id="16" name="Rounded Rectangle 15"/>
          <p:cNvSpPr/>
          <p:nvPr/>
        </p:nvSpPr>
        <p:spPr>
          <a:xfrm>
            <a:off x="6263640" y="192024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Application</a:t>
            </a:r>
          </a:p>
        </p:txBody>
      </p:sp>
      <p:sp>
        <p:nvSpPr>
          <p:cNvPr id="17" name="Rounded Rectangle 16"/>
          <p:cNvSpPr/>
          <p:nvPr/>
        </p:nvSpPr>
        <p:spPr>
          <a:xfrm>
            <a:off x="6263640" y="288036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Programming model</a:t>
            </a:r>
          </a:p>
        </p:txBody>
      </p:sp>
      <p:sp>
        <p:nvSpPr>
          <p:cNvPr id="18" name="Rounded Rectangle 17"/>
          <p:cNvSpPr/>
          <p:nvPr/>
        </p:nvSpPr>
        <p:spPr>
          <a:xfrm>
            <a:off x="6263640" y="3840480"/>
            <a:ext cx="2606040" cy="841248"/>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FFFFFF"/>
                </a:solidFill>
                <a:latin typeface="Liberation Sans"/>
                <a:ea typeface="Liberation Sans"/>
                <a:cs typeface="Liberation Sans"/>
              </a:rPr>
              <a:t>Runtime</a:t>
            </a:r>
          </a:p>
        </p:txBody>
      </p:sp>
      <p:sp>
        <p:nvSpPr>
          <p:cNvPr id="19" name="TextBox 18"/>
          <p:cNvSpPr txBox="1"/>
          <p:nvPr/>
        </p:nvSpPr>
        <p:spPr>
          <a:xfrm>
            <a:off x="6263640" y="4892040"/>
            <a:ext cx="2606040" cy="640080"/>
          </a:xfrm>
          <a:prstGeom prst="rect">
            <a:avLst/>
          </a:prstGeom>
          <a:noFill/>
        </p:spPr>
        <p:txBody>
          <a:bodyPr wrap="square" lIns="0" rIns="0" tIns="0" bIns="0"/>
          <a:lstStyle/>
          <a:p>
            <a:pPr algn="ctr">
              <a:spcBef>
                <a:spcPts val="0"/>
              </a:spcBef>
              <a:spcAft>
                <a:spcPts val="600"/>
              </a:spcAft>
            </a:pPr>
            <a:r>
              <a:rPr sz="1300" b="0" i="1">
                <a:solidFill>
                  <a:srgbClr val="5A6570"/>
                </a:solidFill>
                <a:latin typeface="Liberation Sans"/>
                <a:ea typeface="Liberation Sans"/>
                <a:cs typeface="Liberation Sans"/>
              </a:rPr>
              <a:t>Model owns flow</a:t>
            </a:r>
          </a:p>
        </p:txBody>
      </p:sp>
      <p:sp>
        <p:nvSpPr>
          <p:cNvPr id="20" name="TextBox 19"/>
          <p:cNvSpPr txBox="1"/>
          <p:nvPr/>
        </p:nvSpPr>
        <p:spPr>
          <a:xfrm>
            <a:off x="9144000" y="1508760"/>
            <a:ext cx="2606040" cy="365760"/>
          </a:xfrm>
          <a:prstGeom prst="rect">
            <a:avLst/>
          </a:prstGeom>
          <a:noFill/>
        </p:spPr>
        <p:txBody>
          <a:bodyPr wrap="square" lIns="0" rIns="0" tIns="0" bIns="0"/>
          <a:lstStyle/>
          <a:p>
            <a:pPr algn="ctr">
              <a:spcBef>
                <a:spcPts val="0"/>
              </a:spcBef>
              <a:spcAft>
                <a:spcPts val="600"/>
              </a:spcAft>
            </a:pPr>
            <a:r>
              <a:rPr sz="1600" b="1" i="0">
                <a:solidFill>
                  <a:srgbClr val="C45C26"/>
                </a:solidFill>
                <a:latin typeface="Liberation Sans"/>
                <a:ea typeface="Liberation Sans"/>
                <a:cs typeface="Liberation Sans"/>
              </a:rPr>
              <a:t>Platform</a:t>
            </a:r>
          </a:p>
        </p:txBody>
      </p:sp>
      <p:sp>
        <p:nvSpPr>
          <p:cNvPr id="21" name="Rounded Rectangle 20"/>
          <p:cNvSpPr/>
          <p:nvPr/>
        </p:nvSpPr>
        <p:spPr>
          <a:xfrm>
            <a:off x="9144000" y="192024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Application</a:t>
            </a:r>
          </a:p>
        </p:txBody>
      </p:sp>
      <p:sp>
        <p:nvSpPr>
          <p:cNvPr id="22" name="Rounded Rectangle 21"/>
          <p:cNvSpPr/>
          <p:nvPr/>
        </p:nvSpPr>
        <p:spPr>
          <a:xfrm>
            <a:off x="9144000" y="2880360"/>
            <a:ext cx="2606040" cy="84124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1B2A4A"/>
                </a:solidFill>
                <a:latin typeface="Liberation Sans"/>
                <a:ea typeface="Liberation Sans"/>
                <a:cs typeface="Liberation Sans"/>
              </a:rPr>
              <a:t>External platform</a:t>
            </a:r>
          </a:p>
        </p:txBody>
      </p:sp>
      <p:sp>
        <p:nvSpPr>
          <p:cNvPr id="23" name="Rounded Rectangle 22"/>
          <p:cNvSpPr/>
          <p:nvPr/>
        </p:nvSpPr>
        <p:spPr>
          <a:xfrm>
            <a:off x="9144000" y="3840480"/>
            <a:ext cx="2606040" cy="841248"/>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36576"/>
          <a:lstStyle/>
          <a:p>
            <a:pPr algn="ctr">
              <a:spcBef>
                <a:spcPts val="0"/>
              </a:spcBef>
              <a:spcAft>
                <a:spcPts val="600"/>
              </a:spcAft>
            </a:pPr>
            <a:r>
              <a:rPr sz="1500" b="1" i="0">
                <a:solidFill>
                  <a:srgbClr val="FFFFFF"/>
                </a:solidFill>
                <a:latin typeface="Liberation Sans"/>
                <a:ea typeface="Liberation Sans"/>
                <a:cs typeface="Liberation Sans"/>
              </a:rPr>
              <a:t>Platform execution</a:t>
            </a:r>
          </a:p>
        </p:txBody>
      </p:sp>
      <p:sp>
        <p:nvSpPr>
          <p:cNvPr id="24" name="TextBox 23"/>
          <p:cNvSpPr txBox="1"/>
          <p:nvPr/>
        </p:nvSpPr>
        <p:spPr>
          <a:xfrm>
            <a:off x="9144000" y="4892040"/>
            <a:ext cx="2606040" cy="640080"/>
          </a:xfrm>
          <a:prstGeom prst="rect">
            <a:avLst/>
          </a:prstGeom>
          <a:noFill/>
        </p:spPr>
        <p:txBody>
          <a:bodyPr wrap="square" lIns="0" rIns="0" tIns="0" bIns="0"/>
          <a:lstStyle/>
          <a:p>
            <a:pPr algn="ctr">
              <a:spcBef>
                <a:spcPts val="0"/>
              </a:spcBef>
              <a:spcAft>
                <a:spcPts val="600"/>
              </a:spcAft>
            </a:pPr>
            <a:r>
              <a:rPr sz="1300" b="0" i="1">
                <a:solidFill>
                  <a:srgbClr val="5A6570"/>
                </a:solidFill>
                <a:latin typeface="Liberation Sans"/>
                <a:ea typeface="Liberation Sans"/>
                <a:cs typeface="Liberation Sans"/>
              </a:rPr>
              <a:t>Architecture moves</a:t>
            </a:r>
          </a:p>
        </p:txBody>
      </p:sp>
      <p:sp>
        <p:nvSpPr>
          <p:cNvPr id="25" name="Rectangle 24"/>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26" name="TextBox 25"/>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Complexity relocates   ·   11 / 51</a:t>
            </a:r>
          </a:p>
        </p:txBody>
      </p:sp>
      <p:sp>
        <p:nvSpPr>
          <p:cNvPr id="27" name="Rectangle 26"/>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EASY MISTAKE</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Less code is not less complexity.</a:t>
            </a:r>
          </a:p>
          <a:p>
            <a:pPr algn="l">
              <a:spcBef>
                <a:spcPts val="0"/>
              </a:spcBef>
              <a:spcAft>
                <a:spcPts val="600"/>
              </a:spcAft>
            </a:pPr>
            <a:r>
              <a:rPr sz="1600" b="0" i="0">
                <a:solidFill>
                  <a:srgbClr val="5A6570"/>
                </a:solidFill>
                <a:latin typeface="Liberation Sans"/>
                <a:ea typeface="Liberation Sans"/>
                <a:cs typeface="Liberation Sans"/>
              </a:rPr>
              <a:t>The reduction in application code is real. So is the increase in dependency.</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Complexity relocates   ·   12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ABSTRACTION BOUNDARY</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Using a capability  vs  living in a model</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A library can leave you in charge</a:t>
            </a:r>
          </a:p>
          <a:p>
            <a:pPr algn="l">
              <a:spcBef>
                <a:spcPts val="0"/>
              </a:spcBef>
              <a:spcAft>
                <a:spcPts val="1000"/>
              </a:spcAft>
            </a:pPr>
            <a:r>
              <a:rPr sz="1600" b="0" i="0">
                <a:solidFill>
                  <a:srgbClr val="242424"/>
                </a:solidFill>
                <a:latin typeface="Liberation Sans"/>
                <a:ea typeface="Liberation Sans"/>
                <a:cs typeface="Liberation Sans"/>
              </a:rPr>
              <a:t>•  how components interact</a:t>
            </a:r>
          </a:p>
          <a:p>
            <a:pPr algn="l">
              <a:spcBef>
                <a:spcPts val="0"/>
              </a:spcBef>
              <a:spcAft>
                <a:spcPts val="1000"/>
              </a:spcAft>
            </a:pPr>
            <a:r>
              <a:rPr sz="1600" b="0" i="0">
                <a:solidFill>
                  <a:srgbClr val="242424"/>
                </a:solidFill>
                <a:latin typeface="Liberation Sans"/>
                <a:ea typeface="Liberation Sans"/>
                <a:cs typeface="Liberation Sans"/>
              </a:rPr>
              <a:t>•  where policy lives</a:t>
            </a:r>
          </a:p>
          <a:p>
            <a:pPr algn="l">
              <a:spcBef>
                <a:spcPts val="0"/>
              </a:spcBef>
              <a:spcAft>
                <a:spcPts val="1000"/>
              </a:spcAft>
            </a:pPr>
            <a:r>
              <a:rPr sz="1600" b="0" i="0">
                <a:solidFill>
                  <a:srgbClr val="242424"/>
                </a:solidFill>
                <a:latin typeface="Liberation Sans"/>
                <a:ea typeface="Liberation Sans"/>
                <a:cs typeface="Liberation Sans"/>
              </a:rPr>
              <a:t>•  how state is managed</a:t>
            </a:r>
          </a:p>
          <a:p>
            <a:pPr algn="l">
              <a:spcBef>
                <a:spcPts val="0"/>
              </a:spcBef>
              <a:spcAft>
                <a:spcPts val="1000"/>
              </a:spcAft>
            </a:pPr>
            <a:r>
              <a:rPr sz="1600" b="0" i="0">
                <a:solidFill>
                  <a:srgbClr val="242424"/>
                </a:solidFill>
                <a:latin typeface="Liberation Sans"/>
                <a:ea typeface="Liberation Sans"/>
                <a:cs typeface="Liberation Sans"/>
              </a:rPr>
              <a:t>•  what success and failure mean</a:t>
            </a:r>
          </a:p>
          <a:p>
            <a:pPr algn="l">
              <a:spcBef>
                <a:spcPts val="0"/>
              </a:spcBef>
              <a:spcAft>
                <a:spcPts val="1000"/>
              </a:spcAft>
            </a:pPr>
            <a:r>
              <a:rPr sz="1600" b="0" i="0">
                <a:solidFill>
                  <a:srgbClr val="242424"/>
                </a:solidFill>
                <a:latin typeface="Liberation Sans"/>
                <a:ea typeface="Liberation Sans"/>
                <a:cs typeface="Liberation Sans"/>
              </a:rPr>
              <a:t>•  how pieces are composed</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A platform can own the execution</a:t>
            </a:r>
          </a:p>
          <a:p>
            <a:pPr algn="l">
              <a:spcBef>
                <a:spcPts val="0"/>
              </a:spcBef>
              <a:spcAft>
                <a:spcPts val="1000"/>
              </a:spcAft>
            </a:pPr>
            <a:r>
              <a:rPr sz="1600" b="0" i="0">
                <a:solidFill>
                  <a:srgbClr val="FFF8EF"/>
                </a:solidFill>
                <a:latin typeface="Liberation Sans"/>
                <a:ea typeface="Liberation Sans"/>
                <a:cs typeface="Liberation Sans"/>
              </a:rPr>
              <a:t>•  topology and scheduling</a:t>
            </a:r>
          </a:p>
          <a:p>
            <a:pPr algn="l">
              <a:spcBef>
                <a:spcPts val="0"/>
              </a:spcBef>
              <a:spcAft>
                <a:spcPts val="1000"/>
              </a:spcAft>
            </a:pPr>
            <a:r>
              <a:rPr sz="1600" b="0" i="0">
                <a:solidFill>
                  <a:srgbClr val="FFF8EF"/>
                </a:solidFill>
                <a:latin typeface="Liberation Sans"/>
                <a:ea typeface="Liberation Sans"/>
                <a:cs typeface="Liberation Sans"/>
              </a:rPr>
              <a:t>•  queues, retries, state</a:t>
            </a:r>
          </a:p>
          <a:p>
            <a:pPr algn="l">
              <a:spcBef>
                <a:spcPts val="0"/>
              </a:spcBef>
              <a:spcAft>
                <a:spcPts val="1000"/>
              </a:spcAft>
            </a:pPr>
            <a:r>
              <a:rPr sz="1600" b="0" i="0">
                <a:solidFill>
                  <a:srgbClr val="FFF8EF"/>
                </a:solidFill>
                <a:latin typeface="Liberation Sans"/>
                <a:ea typeface="Liberation Sans"/>
                <a:cs typeface="Liberation Sans"/>
              </a:rPr>
              <a:t>•  config and deploy model</a:t>
            </a:r>
          </a:p>
          <a:p>
            <a:pPr algn="l">
              <a:spcBef>
                <a:spcPts val="0"/>
              </a:spcBef>
              <a:spcAft>
                <a:spcPts val="1000"/>
              </a:spcAft>
            </a:pPr>
            <a:r>
              <a:rPr sz="1600" b="0" i="0">
                <a:solidFill>
                  <a:srgbClr val="FFF8EF"/>
                </a:solidFill>
                <a:latin typeface="Liberation Sans"/>
                <a:ea typeface="Liberation Sans"/>
                <a:cs typeface="Liberation Sans"/>
              </a:rPr>
              <a:t>•  operational behavior</a:t>
            </a:r>
          </a:p>
          <a:p>
            <a:pPr algn="l">
              <a:spcBef>
                <a:spcPts val="0"/>
              </a:spcBef>
              <a:spcAft>
                <a:spcPts val="1000"/>
              </a:spcAft>
            </a:pPr>
            <a:r>
              <a:rPr sz="1600" b="0" i="0">
                <a:solidFill>
                  <a:srgbClr val="FFF8EF"/>
                </a:solidFill>
                <a:latin typeface="Liberation Sans"/>
                <a:ea typeface="Liberation Sans"/>
                <a:cs typeface="Liberation Sans"/>
              </a:rPr>
              <a:t>•  the application is expressed inside it</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Complexity relocates   ·   13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SUBTLE TRAP</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000" b="1" i="0">
                <a:solidFill>
                  <a:srgbClr val="1B2A4A"/>
                </a:solidFill>
                <a:latin typeface="Liberation Serif"/>
                <a:ea typeface="Liberation Serif"/>
                <a:cs typeface="Liberation Serif"/>
              </a:rPr>
              <a:t>Open source does not mean you own the architecture</a:t>
            </a:r>
          </a:p>
        </p:txBody>
      </p:sp>
      <p:sp>
        <p:nvSpPr>
          <p:cNvPr id="5" name="TextBox 4"/>
          <p:cNvSpPr txBox="1"/>
          <p:nvPr/>
        </p:nvSpPr>
        <p:spPr>
          <a:xfrm>
            <a:off x="502920" y="1554480"/>
            <a:ext cx="11155680" cy="4754880"/>
          </a:xfrm>
          <a:prstGeom prst="rect">
            <a:avLst/>
          </a:prstGeom>
          <a:noFill/>
        </p:spPr>
        <p:txBody>
          <a:bodyPr wrap="square" lIns="0" rIns="0" tIns="0" bIns="0"/>
          <a:lstStyle/>
          <a:p>
            <a:pPr algn="l">
              <a:spcBef>
                <a:spcPts val="0"/>
              </a:spcBef>
              <a:spcAft>
                <a:spcPts val="1800"/>
              </a:spcAft>
            </a:pPr>
            <a:r>
              <a:rPr sz="2200" b="0" i="0">
                <a:solidFill>
                  <a:srgbClr val="242424"/>
                </a:solidFill>
                <a:latin typeface="Liberation Sans"/>
                <a:ea typeface="Liberation Sans"/>
                <a:cs typeface="Liberation Sans"/>
              </a:rPr>
              <a:t>▸  You can read the source. You can even fork it.</a:t>
            </a:r>
          </a:p>
          <a:p>
            <a:pPr algn="l">
              <a:spcBef>
                <a:spcPts val="0"/>
              </a:spcBef>
              <a:spcAft>
                <a:spcPts val="1800"/>
              </a:spcAft>
            </a:pPr>
            <a:r>
              <a:rPr sz="2200" b="0" i="0">
                <a:solidFill>
                  <a:srgbClr val="242424"/>
                </a:solidFill>
                <a:latin typeface="Liberation Sans"/>
                <a:ea typeface="Liberation Sans"/>
                <a:cs typeface="Liberation Sans"/>
              </a:rPr>
              <a:t>▸  If you depend on its runtime, config model, workflow semantics, state model, and ops assumptions — you are coupled.</a:t>
            </a:r>
          </a:p>
          <a:p>
            <a:pPr algn="l">
              <a:spcBef>
                <a:spcPts val="0"/>
              </a:spcBef>
              <a:spcAft>
                <a:spcPts val="1800"/>
              </a:spcAft>
            </a:pPr>
            <a:r>
              <a:rPr sz="2200" b="0" i="0">
                <a:solidFill>
                  <a:srgbClr val="242424"/>
                </a:solidFill>
                <a:latin typeface="Liberation Sans"/>
                <a:ea typeface="Liberation Sans"/>
                <a:cs typeface="Liberation Sans"/>
              </a:rPr>
              <a:t>▸  Source availability and architectural ownership are different properties.</a:t>
            </a:r>
          </a:p>
          <a:p>
            <a:pPr algn="l">
              <a:spcBef>
                <a:spcPts val="0"/>
              </a:spcBef>
              <a:spcAft>
                <a:spcPts val="1800"/>
              </a:spcAft>
            </a:pPr>
            <a:r>
              <a:rPr sz="2200" b="0" i="0">
                <a:solidFill>
                  <a:srgbClr val="242424"/>
                </a:solidFill>
                <a:latin typeface="Liberation Sans"/>
                <a:ea typeface="Liberation Sans"/>
                <a:cs typeface="Liberation Sans"/>
              </a:rPr>
              <a:t>▸  Access to their code is not control over how your application is structured around it.</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Complexity relocates   ·   14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3840480"/>
          </a:xfrm>
          <a:prstGeom prst="rect">
            <a:avLst/>
          </a:prstGeom>
          <a:noFill/>
        </p:spPr>
        <p:txBody>
          <a:bodyPr wrap="square" lIns="0" rIns="0" tIns="0" bIns="0"/>
          <a:lstStyle/>
          <a:p>
            <a:pPr algn="l">
              <a:spcBef>
                <a:spcPts val="0"/>
              </a:spcBef>
              <a:spcAft>
                <a:spcPts val="1400"/>
              </a:spcAft>
            </a:pPr>
            <a:r>
              <a:rPr sz="1600" b="1" i="0">
                <a:solidFill>
                  <a:srgbClr val="B88C4A"/>
                </a:solidFill>
                <a:latin typeface="Liberation Sans"/>
                <a:ea typeface="Liberation Sans"/>
                <a:cs typeface="Liberation Sans"/>
              </a:rPr>
              <a:t>Part III  ·  ≈ 17 minutes</a:t>
            </a:r>
          </a:p>
          <a:p>
            <a:pPr algn="l">
              <a:spcBef>
                <a:spcPts val="0"/>
              </a:spcBef>
              <a:spcAft>
                <a:spcPts val="1600"/>
              </a:spcAft>
            </a:pPr>
            <a:r>
              <a:rPr sz="4000" b="1" i="0">
                <a:solidFill>
                  <a:srgbClr val="FFFFFF"/>
                </a:solidFill>
                <a:latin typeface="Liberation Serif"/>
                <a:ea typeface="Liberation Serif"/>
                <a:cs typeface="Liberation Serif"/>
              </a:rPr>
              <a:t>Mental models and the architecture tax</a:t>
            </a:r>
          </a:p>
          <a:p>
            <a:pPr algn="l">
              <a:spcBef>
                <a:spcPts val="0"/>
              </a:spcBef>
              <a:spcAft>
                <a:spcPts val="600"/>
              </a:spcAft>
            </a:pPr>
            <a:r>
              <a:rPr sz="2000" b="0" i="0">
                <a:solidFill>
                  <a:srgbClr val="FFF8EF"/>
                </a:solidFill>
                <a:latin typeface="Liberation Sans"/>
                <a:ea typeface="Liberation Sans"/>
                <a:cs typeface="Liberation Sans"/>
              </a:rPr>
              <a:t>The least visible cost is how the team is forced to think.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DEPTH OF A DEPENDENCY</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How much of the codebase must think in this model?</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Shallow</a:t>
            </a:r>
          </a:p>
          <a:p>
            <a:pPr algn="l">
              <a:spcBef>
                <a:spcPts val="0"/>
              </a:spcBef>
              <a:spcAft>
                <a:spcPts val="1000"/>
              </a:spcAft>
            </a:pPr>
            <a:r>
              <a:rPr sz="1600" b="0" i="0">
                <a:solidFill>
                  <a:srgbClr val="242424"/>
                </a:solidFill>
                <a:latin typeface="Liberation Sans"/>
                <a:ea typeface="Liberation Sans"/>
                <a:cs typeface="Liberation Sans"/>
              </a:rPr>
              <a:t>•  A utility library.</a:t>
            </a:r>
          </a:p>
          <a:p>
            <a:pPr algn="l">
              <a:spcBef>
                <a:spcPts val="0"/>
              </a:spcBef>
              <a:spcAft>
                <a:spcPts val="1000"/>
              </a:spcAft>
            </a:pPr>
            <a:r>
              <a:rPr sz="1600" b="0" i="0">
                <a:solidFill>
                  <a:srgbClr val="242424"/>
                </a:solidFill>
                <a:latin typeface="Liberation Sans"/>
                <a:ea typeface="Liberation Sans"/>
                <a:cs typeface="Liberation Sans"/>
              </a:rPr>
              <a:t>•  Learn the API.</a:t>
            </a:r>
          </a:p>
          <a:p>
            <a:pPr algn="l">
              <a:spcBef>
                <a:spcPts val="0"/>
              </a:spcBef>
              <a:spcAft>
                <a:spcPts val="1000"/>
              </a:spcAft>
            </a:pPr>
            <a:r>
              <a:rPr sz="1600" b="0" i="0">
                <a:solidFill>
                  <a:srgbClr val="242424"/>
                </a:solidFill>
                <a:latin typeface="Liberation Sans"/>
                <a:ea typeface="Liberation Sans"/>
                <a:cs typeface="Liberation Sans"/>
              </a:rPr>
              <a:t>•  Keep thinking in the application's concepts.</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Deep</a:t>
            </a:r>
          </a:p>
          <a:p>
            <a:pPr algn="l">
              <a:spcBef>
                <a:spcPts val="0"/>
              </a:spcBef>
              <a:spcAft>
                <a:spcPts val="1000"/>
              </a:spcAft>
            </a:pPr>
            <a:r>
              <a:rPr sz="1600" b="0" i="0">
                <a:solidFill>
                  <a:srgbClr val="FFF8EF"/>
                </a:solidFill>
                <a:latin typeface="Liberation Sans"/>
                <a:ea typeface="Liberation Sans"/>
                <a:cs typeface="Liberation Sans"/>
              </a:rPr>
              <a:t>•  Effect systems, actors, reactive, workflows, streams.</a:t>
            </a:r>
          </a:p>
          <a:p>
            <a:pPr algn="l">
              <a:spcBef>
                <a:spcPts val="0"/>
              </a:spcBef>
              <a:spcAft>
                <a:spcPts val="1000"/>
              </a:spcAft>
            </a:pPr>
            <a:r>
              <a:rPr sz="1600" b="0" i="0">
                <a:solidFill>
                  <a:srgbClr val="FFF8EF"/>
                </a:solidFill>
                <a:latin typeface="Liberation Sans"/>
                <a:ea typeface="Liberation Sans"/>
                <a:cs typeface="Liberation Sans"/>
              </a:rPr>
              <a:t>•  Powerful — and demanding.</a:t>
            </a:r>
          </a:p>
          <a:p>
            <a:pPr algn="l">
              <a:spcBef>
                <a:spcPts val="0"/>
              </a:spcBef>
              <a:spcAft>
                <a:spcPts val="1000"/>
              </a:spcAft>
            </a:pPr>
            <a:r>
              <a:rPr sz="1600" b="0" i="0">
                <a:solidFill>
                  <a:srgbClr val="FFF8EF"/>
                </a:solidFill>
                <a:latin typeface="Liberation Sans"/>
                <a:ea typeface="Liberation Sans"/>
                <a:cs typeface="Liberation Sans"/>
              </a:rPr>
              <a:t>•  The conceptual model becomes part of the application.</a:t>
            </a:r>
          </a:p>
          <a:p>
            <a:pPr algn="l">
              <a:spcBef>
                <a:spcPts val="0"/>
              </a:spcBef>
              <a:spcAft>
                <a:spcPts val="1000"/>
              </a:spcAft>
            </a:pPr>
            <a:r>
              <a:rPr sz="1600" b="0" i="0">
                <a:solidFill>
                  <a:srgbClr val="FFF8EF"/>
                </a:solidFill>
                <a:latin typeface="Liberation Sans"/>
                <a:ea typeface="Liberation Sans"/>
                <a:cs typeface="Liberation Sans"/>
              </a:rPr>
              <a:t>•  A local choice becomes a global commitment.</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16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ADOPTION THRESHOLD</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Local abstraction vs global programming model</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Local</a:t>
            </a:r>
          </a:p>
          <a:p>
            <a:pPr algn="l">
              <a:spcBef>
                <a:spcPts val="0"/>
              </a:spcBef>
              <a:spcAft>
                <a:spcPts val="1000"/>
              </a:spcAft>
            </a:pPr>
            <a:r>
              <a:rPr sz="1600" b="0" i="0">
                <a:solidFill>
                  <a:srgbClr val="242424"/>
                </a:solidFill>
                <a:latin typeface="Liberation Sans"/>
                <a:ea typeface="Liberation Sans"/>
                <a:cs typeface="Liberation Sans"/>
              </a:rPr>
              <a:t>•  domain</a:t>
            </a:r>
          </a:p>
          <a:p>
            <a:pPr algn="l">
              <a:spcBef>
                <a:spcPts val="0"/>
              </a:spcBef>
              <a:spcAft>
                <a:spcPts val="1000"/>
              </a:spcAft>
            </a:pPr>
            <a:r>
              <a:rPr sz="1600" b="0" i="0">
                <a:solidFill>
                  <a:srgbClr val="242424"/>
                </a:solidFill>
                <a:latin typeface="Liberation Sans"/>
                <a:ea typeface="Liberation Sans"/>
                <a:cs typeface="Liberation Sans"/>
              </a:rPr>
              <a:t>•  application logic</a:t>
            </a:r>
          </a:p>
          <a:p>
            <a:pPr algn="l">
              <a:spcBef>
                <a:spcPts val="0"/>
              </a:spcBef>
              <a:spcAft>
                <a:spcPts val="1000"/>
              </a:spcAft>
            </a:pPr>
            <a:r>
              <a:rPr sz="1600" b="0" i="0">
                <a:solidFill>
                  <a:srgbClr val="242424"/>
                </a:solidFill>
                <a:latin typeface="Liberation Sans"/>
                <a:ea typeface="Liberation Sans"/>
                <a:cs typeface="Liberation Sans"/>
              </a:rPr>
              <a:t>•  infrastructure</a:t>
            </a:r>
          </a:p>
          <a:p>
            <a:pPr algn="l">
              <a:spcBef>
                <a:spcPts val="0"/>
              </a:spcBef>
              <a:spcAft>
                <a:spcPts val="1000"/>
              </a:spcAft>
            </a:pPr>
            <a:r>
              <a:rPr sz="1600" b="0" i="0">
                <a:solidFill>
                  <a:srgbClr val="242424"/>
                </a:solidFill>
                <a:latin typeface="Liberation Sans"/>
                <a:ea typeface="Liberation Sans"/>
                <a:cs typeface="Liberation Sans"/>
              </a:rPr>
              <a:t>•      library A / B / C</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Global</a:t>
            </a:r>
          </a:p>
          <a:p>
            <a:pPr algn="l">
              <a:spcBef>
                <a:spcPts val="0"/>
              </a:spcBef>
              <a:spcAft>
                <a:spcPts val="1000"/>
              </a:spcAft>
            </a:pPr>
            <a:r>
              <a:rPr sz="1600" b="0" i="0">
                <a:solidFill>
                  <a:srgbClr val="FFF8EF"/>
                </a:solidFill>
                <a:latin typeface="Liberation Sans"/>
                <a:ea typeface="Liberation Sans"/>
                <a:cs typeface="Liberation Sans"/>
              </a:rPr>
              <a:t>•  programming model</a:t>
            </a:r>
          </a:p>
          <a:p>
            <a:pPr algn="l">
              <a:spcBef>
                <a:spcPts val="0"/>
              </a:spcBef>
              <a:spcAft>
                <a:spcPts val="1000"/>
              </a:spcAft>
            </a:pPr>
            <a:r>
              <a:rPr sz="1600" b="0" i="0">
                <a:solidFill>
                  <a:srgbClr val="FFF8EF"/>
                </a:solidFill>
                <a:latin typeface="Liberation Sans"/>
                <a:ea typeface="Liberation Sans"/>
                <a:cs typeface="Liberation Sans"/>
              </a:rPr>
              <a:t>•      component A</a:t>
            </a:r>
          </a:p>
          <a:p>
            <a:pPr algn="l">
              <a:spcBef>
                <a:spcPts val="0"/>
              </a:spcBef>
              <a:spcAft>
                <a:spcPts val="1000"/>
              </a:spcAft>
            </a:pPr>
            <a:r>
              <a:rPr sz="1600" b="0" i="0">
                <a:solidFill>
                  <a:srgbClr val="FFF8EF"/>
                </a:solidFill>
                <a:latin typeface="Liberation Sans"/>
                <a:ea typeface="Liberation Sans"/>
                <a:cs typeface="Liberation Sans"/>
              </a:rPr>
              <a:t>•      component B</a:t>
            </a:r>
          </a:p>
          <a:p>
            <a:pPr algn="l">
              <a:spcBef>
                <a:spcPts val="0"/>
              </a:spcBef>
              <a:spcAft>
                <a:spcPts val="1000"/>
              </a:spcAft>
            </a:pPr>
            <a:r>
              <a:rPr sz="1600" b="0" i="0">
                <a:solidFill>
                  <a:srgbClr val="FFF8EF"/>
                </a:solidFill>
                <a:latin typeface="Liberation Sans"/>
                <a:ea typeface="Liberation Sans"/>
                <a:cs typeface="Liberation Sans"/>
              </a:rPr>
              <a:t>•      almost everything else</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17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ELEGANCE CAN BE EXPENSIVE</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Local elegance can hide a global commitment.</a:t>
            </a:r>
          </a:p>
          <a:p>
            <a:pPr algn="l">
              <a:spcBef>
                <a:spcPts val="0"/>
              </a:spcBef>
              <a:spcAft>
                <a:spcPts val="600"/>
              </a:spcAft>
            </a:pPr>
            <a:r>
              <a:rPr sz="1600" b="0" i="0">
                <a:solidFill>
                  <a:srgbClr val="5A6570"/>
                </a:solidFill>
                <a:latin typeface="Liberation Sans"/>
                <a:ea typeface="Liberation Sans"/>
                <a:cs typeface="Liberation Sans"/>
              </a:rPr>
              <a:t>Not: which code looks cleaner?  Ask: does the reduction in complexity justify how much of the system must adopt the model?</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18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PERSONAL PATTERN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000" b="1" i="0">
                <a:solidFill>
                  <a:srgbClr val="1B2A4A"/>
                </a:solidFill>
                <a:latin typeface="Liberation Serif"/>
                <a:ea typeface="Liberation Serif"/>
                <a:cs typeface="Liberation Serif"/>
              </a:rPr>
              <a:t>The dark side of “the right tool”</a:t>
            </a:r>
          </a:p>
        </p:txBody>
      </p:sp>
      <p:sp>
        <p:nvSpPr>
          <p:cNvPr id="5" name="TextBox 4"/>
          <p:cNvSpPr txBox="1"/>
          <p:nvPr/>
        </p:nvSpPr>
        <p:spPr>
          <a:xfrm>
            <a:off x="502920" y="1554480"/>
            <a:ext cx="11155680" cy="4754880"/>
          </a:xfrm>
          <a:prstGeom prst="rect">
            <a:avLst/>
          </a:prstGeom>
          <a:noFill/>
        </p:spPr>
        <p:txBody>
          <a:bodyPr wrap="square" lIns="0" rIns="0" tIns="0" bIns="0"/>
          <a:lstStyle/>
          <a:p>
            <a:pPr algn="l">
              <a:spcBef>
                <a:spcPts val="0"/>
              </a:spcBef>
              <a:spcAft>
                <a:spcPts val="1800"/>
              </a:spcAft>
            </a:pPr>
            <a:r>
              <a:rPr sz="2200" b="0" i="0">
                <a:solidFill>
                  <a:srgbClr val="242424"/>
                </a:solidFill>
                <a:latin typeface="Liberation Sans"/>
                <a:ea typeface="Liberation Sans"/>
                <a:cs typeface="Liberation Sans"/>
              </a:rPr>
              <a:t>▸  There was a tool. It promised to eliminate implementation.</a:t>
            </a:r>
          </a:p>
          <a:p>
            <a:pPr algn="l">
              <a:spcBef>
                <a:spcPts val="0"/>
              </a:spcBef>
              <a:spcAft>
                <a:spcPts val="1800"/>
              </a:spcAft>
            </a:pPr>
            <a:r>
              <a:rPr sz="2200" b="0" i="0">
                <a:solidFill>
                  <a:srgbClr val="242424"/>
                </a:solidFill>
                <a:latin typeface="Liberation Sans"/>
                <a:ea typeface="Liberation Sans"/>
                <a:cs typeface="Liberation Sans"/>
              </a:rPr>
              <a:t>▸  It looked like the responsible choice.</a:t>
            </a:r>
          </a:p>
          <a:p>
            <a:pPr algn="l">
              <a:spcBef>
                <a:spcPts val="0"/>
              </a:spcBef>
              <a:spcAft>
                <a:spcPts val="1800"/>
              </a:spcAft>
            </a:pPr>
            <a:r>
              <a:rPr sz="2200" b="0" i="0">
                <a:solidFill>
                  <a:srgbClr val="242424"/>
                </a:solidFill>
                <a:latin typeface="Liberation Sans"/>
                <a:ea typeface="Liberation Sans"/>
                <a:cs typeface="Liberation Sans"/>
              </a:rPr>
              <a:t>▸  Then: learn the model, learn the boundaries, pay for workarounds.</a:t>
            </a:r>
          </a:p>
          <a:p>
            <a:pPr algn="l">
              <a:spcBef>
                <a:spcPts val="0"/>
              </a:spcBef>
              <a:spcAft>
                <a:spcPts val="1800"/>
              </a:spcAft>
            </a:pPr>
            <a:r>
              <a:rPr sz="2200" b="0" i="0">
                <a:solidFill>
                  <a:srgbClr val="242424"/>
                </a:solidFill>
                <a:latin typeface="Liberation Sans"/>
                <a:ea typeface="Liberation Sans"/>
                <a:cs typeface="Liberation Sans"/>
              </a:rPr>
              <a:t>▸  The late question: why didn’t I just write the thing?</a:t>
            </a:r>
          </a:p>
          <a:p>
            <a:pPr algn="l">
              <a:spcBef>
                <a:spcPts val="0"/>
              </a:spcBef>
              <a:spcAft>
                <a:spcPts val="1800"/>
              </a:spcAft>
            </a:pPr>
            <a:r>
              <a:rPr sz="2200" b="0" i="0">
                <a:solidFill>
                  <a:srgbClr val="242424"/>
                </a:solidFill>
                <a:latin typeface="Liberation Sans"/>
                <a:ea typeface="Liberation Sans"/>
                <a:cs typeface="Liberation Sans"/>
              </a:rPr>
              <a:t>▸  Usually the tool was fine. The problem was more specific than the abstraction. You paid for generality. Adoption itself has a cost.</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19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GENERAL-PURPOSE TOOLS</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The architecture tax</a:t>
            </a:r>
          </a:p>
        </p:txBody>
      </p:sp>
      <p:sp>
        <p:nvSpPr>
          <p:cNvPr id="5" name="Rounded Rectangle 4"/>
          <p:cNvSpPr/>
          <p:nvPr/>
        </p:nvSpPr>
        <p:spPr>
          <a:xfrm>
            <a:off x="502920" y="1600200"/>
            <a:ext cx="3108960" cy="44805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91440"/>
          <a:lstStyle/>
          <a:p>
            <a:pPr algn="l">
              <a:spcBef>
                <a:spcPts val="0"/>
              </a:spcBef>
              <a:spcAft>
                <a:spcPts val="1000"/>
              </a:spcAft>
            </a:pPr>
            <a:r>
              <a:rPr sz="1400" b="1" i="0">
                <a:solidFill>
                  <a:srgbClr val="C45C26"/>
                </a:solidFill>
                <a:latin typeface="Liberation Sans"/>
                <a:ea typeface="Liberation Sans"/>
                <a:cs typeface="Liberation Sans"/>
              </a:rPr>
              <a:t>What you needed</a:t>
            </a:r>
          </a:p>
          <a:p>
            <a:pPr algn="l">
              <a:spcBef>
                <a:spcPts val="0"/>
              </a:spcBef>
              <a:spcAft>
                <a:spcPts val="1600"/>
              </a:spcAft>
            </a:pPr>
            <a:r>
              <a:rPr sz="2800" b="1" i="0">
                <a:solidFill>
                  <a:srgbClr val="1B2A4A"/>
                </a:solidFill>
                <a:latin typeface="Liberation Serif"/>
                <a:ea typeface="Liberation Serif"/>
                <a:cs typeface="Liberation Serif"/>
              </a:rPr>
              <a:t>A  →  B</a:t>
            </a:r>
          </a:p>
          <a:p>
            <a:pPr algn="l">
              <a:spcBef>
                <a:spcPts val="0"/>
              </a:spcBef>
              <a:spcAft>
                <a:spcPts val="600"/>
              </a:spcAft>
            </a:pPr>
            <a:r>
              <a:rPr sz="1600" b="0" i="0">
                <a:solidFill>
                  <a:srgbClr val="242424"/>
                </a:solidFill>
                <a:latin typeface="Liberation Sans"/>
                <a:ea typeface="Liberation Sans"/>
                <a:cs typeface="Liberation Sans"/>
              </a:rPr>
              <a:t>A specific path. A bounded problem. Not a platform.</a:t>
            </a:r>
          </a:p>
        </p:txBody>
      </p:sp>
      <p:sp>
        <p:nvSpPr>
          <p:cNvPr id="6" name="Rounded Rectangle 5"/>
          <p:cNvSpPr/>
          <p:nvPr/>
        </p:nvSpPr>
        <p:spPr>
          <a:xfrm>
            <a:off x="3931920" y="1600200"/>
            <a:ext cx="7726679" cy="44805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0817" bIns="100584"/>
          <a:lstStyle/>
          <a:p>
            <a:pPr algn="l">
              <a:spcBef>
                <a:spcPts val="0"/>
              </a:spcBef>
              <a:spcAft>
                <a:spcPts val="1200"/>
              </a:spcAft>
            </a:pPr>
            <a:r>
              <a:rPr sz="1400" b="1" i="0">
                <a:solidFill>
                  <a:srgbClr val="B88C4A"/>
                </a:solidFill>
                <a:latin typeface="Liberation Sans"/>
                <a:ea typeface="Liberation Sans"/>
                <a:cs typeface="Liberation Sans"/>
              </a:rPr>
              <a:t>What the platform may install</a:t>
            </a:r>
          </a:p>
          <a:p>
            <a:pPr algn="l">
              <a:spcBef>
                <a:spcPts val="0"/>
              </a:spcBef>
              <a:spcAft>
                <a:spcPts val="800"/>
              </a:spcAft>
            </a:pPr>
            <a:r>
              <a:rPr sz="1800" b="0" i="0">
                <a:solidFill>
                  <a:srgbClr val="FFFFFF"/>
                </a:solidFill>
                <a:latin typeface="Liberation Sans"/>
                <a:ea typeface="Liberation Sans"/>
                <a:cs typeface="Liberation Sans"/>
              </a:rPr>
              <a:t>→   routing</a:t>
            </a:r>
          </a:p>
          <a:p>
            <a:pPr algn="l">
              <a:spcBef>
                <a:spcPts val="0"/>
              </a:spcBef>
              <a:spcAft>
                <a:spcPts val="800"/>
              </a:spcAft>
            </a:pPr>
            <a:r>
              <a:rPr sz="1800" b="0" i="0">
                <a:solidFill>
                  <a:srgbClr val="FFFFFF"/>
                </a:solidFill>
                <a:latin typeface="Liberation Sans"/>
                <a:ea typeface="Liberation Sans"/>
                <a:cs typeface="Liberation Sans"/>
              </a:rPr>
              <a:t>→   transformation</a:t>
            </a:r>
          </a:p>
          <a:p>
            <a:pPr algn="l">
              <a:spcBef>
                <a:spcPts val="0"/>
              </a:spcBef>
              <a:spcAft>
                <a:spcPts val="800"/>
              </a:spcAft>
            </a:pPr>
            <a:r>
              <a:rPr sz="1800" b="0" i="0">
                <a:solidFill>
                  <a:srgbClr val="FFFFFF"/>
                </a:solidFill>
                <a:latin typeface="Liberation Sans"/>
                <a:ea typeface="Liberation Sans"/>
                <a:cs typeface="Liberation Sans"/>
              </a:rPr>
              <a:t>→   scheduling</a:t>
            </a:r>
          </a:p>
          <a:p>
            <a:pPr algn="l">
              <a:spcBef>
                <a:spcPts val="0"/>
              </a:spcBef>
              <a:spcAft>
                <a:spcPts val="800"/>
              </a:spcAft>
            </a:pPr>
            <a:r>
              <a:rPr sz="1800" b="0" i="0">
                <a:solidFill>
                  <a:srgbClr val="FFFFFF"/>
                </a:solidFill>
                <a:latin typeface="Liberation Sans"/>
                <a:ea typeface="Liberation Sans"/>
                <a:cs typeface="Liberation Sans"/>
              </a:rPr>
              <a:t>→   state · retries · backpressure</a:t>
            </a:r>
          </a:p>
          <a:p>
            <a:pPr algn="l">
              <a:spcBef>
                <a:spcPts val="0"/>
              </a:spcBef>
              <a:spcAft>
                <a:spcPts val="800"/>
              </a:spcAft>
            </a:pPr>
            <a:r>
              <a:rPr sz="1800" b="0" i="0">
                <a:solidFill>
                  <a:srgbClr val="FFFFFF"/>
                </a:solidFill>
                <a:latin typeface="Liberation Sans"/>
                <a:ea typeface="Liberation Sans"/>
                <a:cs typeface="Liberation Sans"/>
              </a:rPr>
              <a:t>→   parallelism · observability</a:t>
            </a:r>
          </a:p>
          <a:p>
            <a:pPr algn="l">
              <a:spcBef>
                <a:spcPts val="0"/>
              </a:spcBef>
              <a:spcAft>
                <a:spcPts val="800"/>
              </a:spcAft>
            </a:pPr>
            <a:r>
              <a:rPr sz="1800" b="0" i="0">
                <a:solidFill>
                  <a:srgbClr val="FFFFFF"/>
                </a:solidFill>
                <a:latin typeface="Liberation Sans"/>
                <a:ea typeface="Liberation Sans"/>
                <a:cs typeface="Liberation Sans"/>
              </a:rPr>
              <a:t>→   operational assumptions</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20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PRACTICAL SPLIT</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Four costs of a technical choice</a:t>
            </a:r>
          </a:p>
        </p:txBody>
      </p:sp>
      <p:sp>
        <p:nvSpPr>
          <p:cNvPr id="5" name="Rounded Rectangle 4"/>
          <p:cNvSpPr/>
          <p:nvPr/>
        </p:nvSpPr>
        <p:spPr>
          <a:xfrm>
            <a:off x="502920" y="1554480"/>
            <a:ext cx="5486400"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1. Implementation</a:t>
            </a:r>
          </a:p>
          <a:p>
            <a:pPr algn="l">
              <a:spcBef>
                <a:spcPts val="0"/>
              </a:spcBef>
              <a:spcAft>
                <a:spcPts val="0"/>
              </a:spcAft>
            </a:pPr>
            <a:r>
              <a:rPr sz="1400" b="0" i="0">
                <a:solidFill>
                  <a:srgbClr val="242424"/>
                </a:solidFill>
                <a:latin typeface="Liberation Sans"/>
                <a:ea typeface="Liberation Sans"/>
                <a:cs typeface="Liberation Sans"/>
              </a:rPr>
              <a:t>How hard is it to build ourselves?</a:t>
            </a:r>
          </a:p>
        </p:txBody>
      </p:sp>
      <p:sp>
        <p:nvSpPr>
          <p:cNvPr id="6" name="Rounded Rectangle 5"/>
          <p:cNvSpPr/>
          <p:nvPr/>
        </p:nvSpPr>
        <p:spPr>
          <a:xfrm>
            <a:off x="6190488" y="1554480"/>
            <a:ext cx="5486400"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2. Adoption</a:t>
            </a:r>
          </a:p>
          <a:p>
            <a:pPr algn="l">
              <a:spcBef>
                <a:spcPts val="0"/>
              </a:spcBef>
              <a:spcAft>
                <a:spcPts val="0"/>
              </a:spcAft>
            </a:pPr>
            <a:r>
              <a:rPr sz="1400" b="0" i="0">
                <a:solidFill>
                  <a:srgbClr val="242424"/>
                </a:solidFill>
                <a:latin typeface="Liberation Sans"/>
                <a:ea typeface="Liberation Sans"/>
                <a:cs typeface="Liberation Sans"/>
              </a:rPr>
              <a:t>Understand, integrate, learn.</a:t>
            </a:r>
          </a:p>
        </p:txBody>
      </p:sp>
      <p:sp>
        <p:nvSpPr>
          <p:cNvPr id="7" name="Rounded Rectangle 6"/>
          <p:cNvSpPr/>
          <p:nvPr/>
        </p:nvSpPr>
        <p:spPr>
          <a:xfrm>
            <a:off x="502920" y="3991356"/>
            <a:ext cx="5486400"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3. Ownership</a:t>
            </a:r>
          </a:p>
          <a:p>
            <a:pPr algn="l">
              <a:spcBef>
                <a:spcPts val="0"/>
              </a:spcBef>
              <a:spcAft>
                <a:spcPts val="0"/>
              </a:spcAft>
            </a:pPr>
            <a:r>
              <a:rPr sz="1400" b="0" i="0">
                <a:solidFill>
                  <a:srgbClr val="242424"/>
                </a:solidFill>
                <a:latin typeface="Liberation Sans"/>
                <a:ea typeface="Liberation Sans"/>
                <a:cs typeface="Liberation Sans"/>
              </a:rPr>
              <a:t>Operate, debug, maintain, upgrade, govern.</a:t>
            </a:r>
          </a:p>
        </p:txBody>
      </p:sp>
      <p:sp>
        <p:nvSpPr>
          <p:cNvPr id="8" name="Rounded Rectangle 7"/>
          <p:cNvSpPr/>
          <p:nvPr/>
        </p:nvSpPr>
        <p:spPr>
          <a:xfrm>
            <a:off x="6190488" y="3991356"/>
            <a:ext cx="5486400"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4. Exit</a:t>
            </a:r>
          </a:p>
          <a:p>
            <a:pPr algn="l">
              <a:spcBef>
                <a:spcPts val="0"/>
              </a:spcBef>
              <a:spcAft>
                <a:spcPts val="0"/>
              </a:spcAft>
            </a:pPr>
            <a:r>
              <a:rPr sz="1400" b="0" i="0">
                <a:solidFill>
                  <a:srgbClr val="242424"/>
                </a:solidFill>
                <a:latin typeface="Liberation Sans"/>
                <a:ea typeface="Liberation Sans"/>
                <a:cs typeface="Liberation Sans"/>
              </a:rPr>
              <a:t>How hard is it to remove later?</a:t>
            </a:r>
          </a:p>
        </p:txBody>
      </p:sp>
      <p:sp>
        <p:nvSpPr>
          <p:cNvPr id="9" name="Rectangle 8"/>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0" name="TextBox 9"/>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21 / 51</a:t>
            </a:r>
          </a:p>
        </p:txBody>
      </p:sp>
      <p:sp>
        <p:nvSpPr>
          <p:cNvPr id="11" name="Rectangle 10"/>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EXIT COST</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Architectural reversibility is itself a form of value.</a:t>
            </a:r>
          </a:p>
          <a:p>
            <a:pPr algn="l">
              <a:spcBef>
                <a:spcPts val="0"/>
              </a:spcBef>
              <a:spcAft>
                <a:spcPts val="600"/>
              </a:spcAft>
            </a:pPr>
            <a:r>
              <a:rPr sz="1600" b="0" i="0">
                <a:solidFill>
                  <a:srgbClr val="5A6570"/>
                </a:solidFill>
                <a:latin typeface="Liberation Sans"/>
                <a:ea typeface="Liberation Sans"/>
                <a:cs typeface="Liberation Sans"/>
              </a:rPr>
              <a:t>A cheap decision that is easy to reverse is not the same as a cheap decision that locks the model for years.</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22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SOME CHOICES ARE NOT LOCAL</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Technology gravity</a:t>
            </a:r>
          </a:p>
        </p:txBody>
      </p:sp>
      <p:sp>
        <p:nvSpPr>
          <p:cNvPr id="5" name="Oval 4"/>
          <p:cNvSpPr/>
          <p:nvPr/>
        </p:nvSpPr>
        <p:spPr>
          <a:xfrm>
            <a:off x="502920" y="1600200"/>
            <a:ext cx="502920" cy="502920"/>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1600" b="1" i="0">
                <a:solidFill>
                  <a:srgbClr val="FFFFFF"/>
                </a:solidFill>
                <a:latin typeface="Liberation Sans"/>
                <a:ea typeface="Liberation Sans"/>
                <a:cs typeface="Liberation Sans"/>
              </a:rPr>
              <a:t>1</a:t>
            </a:r>
          </a:p>
        </p:txBody>
      </p:sp>
      <p:sp>
        <p:nvSpPr>
          <p:cNvPr id="6" name="Rounded Rectangle 5"/>
          <p:cNvSpPr/>
          <p:nvPr/>
        </p:nvSpPr>
        <p:spPr>
          <a:xfrm>
            <a:off x="1234440" y="1600200"/>
            <a:ext cx="10424160" cy="56692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1" i="0">
                <a:solidFill>
                  <a:srgbClr val="1B2A4A"/>
                </a:solidFill>
                <a:latin typeface="Liberation Sans"/>
                <a:ea typeface="Liberation Sans"/>
                <a:cs typeface="Liberation Sans"/>
              </a:rPr>
              <a:t>A technology</a:t>
            </a:r>
          </a:p>
        </p:txBody>
      </p:sp>
      <p:sp>
        <p:nvSpPr>
          <p:cNvPr id="7" name="Oval 6"/>
          <p:cNvSpPr/>
          <p:nvPr/>
        </p:nvSpPr>
        <p:spPr>
          <a:xfrm>
            <a:off x="502920" y="2331720"/>
            <a:ext cx="502920" cy="50292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1600" b="1" i="0">
                <a:solidFill>
                  <a:srgbClr val="FFFFFF"/>
                </a:solidFill>
                <a:latin typeface="Liberation Sans"/>
                <a:ea typeface="Liberation Sans"/>
                <a:cs typeface="Liberation Sans"/>
              </a:rPr>
              <a:t>2</a:t>
            </a:r>
          </a:p>
        </p:txBody>
      </p:sp>
      <p:sp>
        <p:nvSpPr>
          <p:cNvPr id="8" name="Rounded Rectangle 7"/>
          <p:cNvSpPr/>
          <p:nvPr/>
        </p:nvSpPr>
        <p:spPr>
          <a:xfrm>
            <a:off x="1234440" y="2331720"/>
            <a:ext cx="10424160" cy="56692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1" i="0">
                <a:solidFill>
                  <a:srgbClr val="1B2A4A"/>
                </a:solidFill>
                <a:latin typeface="Liberation Sans"/>
                <a:ea typeface="Liberation Sans"/>
                <a:cs typeface="Liberation Sans"/>
              </a:rPr>
              <a:t>Extra components</a:t>
            </a:r>
          </a:p>
        </p:txBody>
      </p:sp>
      <p:sp>
        <p:nvSpPr>
          <p:cNvPr id="9" name="Oval 8"/>
          <p:cNvSpPr/>
          <p:nvPr/>
        </p:nvSpPr>
        <p:spPr>
          <a:xfrm>
            <a:off x="502920" y="3063240"/>
            <a:ext cx="502920" cy="50292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1600" b="1" i="0">
                <a:solidFill>
                  <a:srgbClr val="FFFFFF"/>
                </a:solidFill>
                <a:latin typeface="Liberation Sans"/>
                <a:ea typeface="Liberation Sans"/>
                <a:cs typeface="Liberation Sans"/>
              </a:rPr>
              <a:t>3</a:t>
            </a:r>
          </a:p>
        </p:txBody>
      </p:sp>
      <p:sp>
        <p:nvSpPr>
          <p:cNvPr id="10" name="Rounded Rectangle 9"/>
          <p:cNvSpPr/>
          <p:nvPr/>
        </p:nvSpPr>
        <p:spPr>
          <a:xfrm>
            <a:off x="1234440" y="3063240"/>
            <a:ext cx="10424160" cy="56692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1" i="0">
                <a:solidFill>
                  <a:srgbClr val="1B2A4A"/>
                </a:solidFill>
                <a:latin typeface="Liberation Sans"/>
                <a:ea typeface="Liberation Sans"/>
                <a:cs typeface="Liberation Sans"/>
              </a:rPr>
              <a:t>New ops practices</a:t>
            </a:r>
          </a:p>
        </p:txBody>
      </p:sp>
      <p:sp>
        <p:nvSpPr>
          <p:cNvPr id="11" name="Oval 10"/>
          <p:cNvSpPr/>
          <p:nvPr/>
        </p:nvSpPr>
        <p:spPr>
          <a:xfrm>
            <a:off x="502920" y="3794760"/>
            <a:ext cx="502920" cy="50292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1600" b="1" i="0">
                <a:solidFill>
                  <a:srgbClr val="FFFFFF"/>
                </a:solidFill>
                <a:latin typeface="Liberation Sans"/>
                <a:ea typeface="Liberation Sans"/>
                <a:cs typeface="Liberation Sans"/>
              </a:rPr>
              <a:t>4</a:t>
            </a:r>
          </a:p>
        </p:txBody>
      </p:sp>
      <p:sp>
        <p:nvSpPr>
          <p:cNvPr id="12" name="Rounded Rectangle 11"/>
          <p:cNvSpPr/>
          <p:nvPr/>
        </p:nvSpPr>
        <p:spPr>
          <a:xfrm>
            <a:off x="1234440" y="3794760"/>
            <a:ext cx="10424160" cy="56692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1" i="0">
                <a:solidFill>
                  <a:srgbClr val="1B2A4A"/>
                </a:solidFill>
                <a:latin typeface="Liberation Sans"/>
                <a:ea typeface="Liberation Sans"/>
                <a:cs typeface="Liberation Sans"/>
              </a:rPr>
              <a:t>New deploy model</a:t>
            </a:r>
          </a:p>
        </p:txBody>
      </p:sp>
      <p:sp>
        <p:nvSpPr>
          <p:cNvPr id="13" name="Oval 12"/>
          <p:cNvSpPr/>
          <p:nvPr/>
        </p:nvSpPr>
        <p:spPr>
          <a:xfrm>
            <a:off x="502920" y="4526280"/>
            <a:ext cx="502920" cy="50292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1600" b="1" i="0">
                <a:solidFill>
                  <a:srgbClr val="FFFFFF"/>
                </a:solidFill>
                <a:latin typeface="Liberation Sans"/>
                <a:ea typeface="Liberation Sans"/>
                <a:cs typeface="Liberation Sans"/>
              </a:rPr>
              <a:t>5</a:t>
            </a:r>
          </a:p>
        </p:txBody>
      </p:sp>
      <p:sp>
        <p:nvSpPr>
          <p:cNvPr id="14" name="Rounded Rectangle 13"/>
          <p:cNvSpPr/>
          <p:nvPr/>
        </p:nvSpPr>
        <p:spPr>
          <a:xfrm>
            <a:off x="1234440" y="4526280"/>
            <a:ext cx="10424160" cy="56692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1" i="0">
                <a:solidFill>
                  <a:srgbClr val="1B2A4A"/>
                </a:solidFill>
                <a:latin typeface="Liberation Sans"/>
                <a:ea typeface="Liberation Sans"/>
                <a:cs typeface="Liberation Sans"/>
              </a:rPr>
              <a:t>New team knowledge</a:t>
            </a:r>
          </a:p>
        </p:txBody>
      </p:sp>
      <p:sp>
        <p:nvSpPr>
          <p:cNvPr id="15" name="Oval 14"/>
          <p:cNvSpPr/>
          <p:nvPr/>
        </p:nvSpPr>
        <p:spPr>
          <a:xfrm>
            <a:off x="502920" y="5257800"/>
            <a:ext cx="502920" cy="50292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1600" b="1" i="0">
                <a:solidFill>
                  <a:srgbClr val="FFFFFF"/>
                </a:solidFill>
                <a:latin typeface="Liberation Sans"/>
                <a:ea typeface="Liberation Sans"/>
                <a:cs typeface="Liberation Sans"/>
              </a:rPr>
              <a:t>6</a:t>
            </a:r>
          </a:p>
        </p:txBody>
      </p:sp>
      <p:sp>
        <p:nvSpPr>
          <p:cNvPr id="16" name="Rounded Rectangle 15"/>
          <p:cNvSpPr/>
          <p:nvPr/>
        </p:nvSpPr>
        <p:spPr>
          <a:xfrm>
            <a:off x="1234440" y="5257800"/>
            <a:ext cx="10424160" cy="566928"/>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1" i="0">
                <a:solidFill>
                  <a:srgbClr val="1B2A4A"/>
                </a:solidFill>
                <a:latin typeface="Liberation Sans"/>
                <a:ea typeface="Liberation Sans"/>
                <a:cs typeface="Liberation Sans"/>
              </a:rPr>
              <a:t>A new architecture</a:t>
            </a:r>
          </a:p>
        </p:txBody>
      </p:sp>
      <p:sp>
        <p:nvSpPr>
          <p:cNvPr id="17" name="Rectangle 1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8" name="TextBox 1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Mental models   ·   23 / 51</a:t>
            </a:r>
          </a:p>
        </p:txBody>
      </p:sp>
      <p:sp>
        <p:nvSpPr>
          <p:cNvPr id="19" name="Rectangle 1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3840480"/>
          </a:xfrm>
          <a:prstGeom prst="rect">
            <a:avLst/>
          </a:prstGeom>
          <a:noFill/>
        </p:spPr>
        <p:txBody>
          <a:bodyPr wrap="square" lIns="0" rIns="0" tIns="0" bIns="0"/>
          <a:lstStyle/>
          <a:p>
            <a:pPr algn="l">
              <a:spcBef>
                <a:spcPts val="0"/>
              </a:spcBef>
              <a:spcAft>
                <a:spcPts val="1400"/>
              </a:spcAft>
            </a:pPr>
            <a:r>
              <a:rPr sz="1600" b="1" i="0">
                <a:solidFill>
                  <a:srgbClr val="B88C4A"/>
                </a:solidFill>
                <a:latin typeface="Liberation Sans"/>
                <a:ea typeface="Liberation Sans"/>
                <a:cs typeface="Liberation Sans"/>
              </a:rPr>
              <a:t>Part IV  ·  ≈ 13 minutes</a:t>
            </a:r>
          </a:p>
          <a:p>
            <a:pPr algn="l">
              <a:spcBef>
                <a:spcPts val="0"/>
              </a:spcBef>
              <a:spcAft>
                <a:spcPts val="1600"/>
              </a:spcAft>
            </a:pPr>
            <a:r>
              <a:rPr sz="4000" b="1" i="0">
                <a:solidFill>
                  <a:srgbClr val="FFFFFF"/>
                </a:solidFill>
                <a:latin typeface="Liberation Serif"/>
                <a:ea typeface="Liberation Serif"/>
                <a:cs typeface="Liberation Serif"/>
              </a:rPr>
              <a:t>Who should own this complexity?</a:t>
            </a:r>
          </a:p>
          <a:p>
            <a:pPr algn="l">
              <a:spcBef>
                <a:spcPts val="0"/>
              </a:spcBef>
              <a:spcAft>
                <a:spcPts val="600"/>
              </a:spcAft>
            </a:pPr>
            <a:r>
              <a:rPr sz="2000" b="0" i="0">
                <a:solidFill>
                  <a:srgbClr val="FFF8EF"/>
                </a:solidFill>
                <a:latin typeface="Liberation Sans"/>
                <a:ea typeface="Liberation Sans"/>
                <a:cs typeface="Liberation Sans"/>
              </a:rPr>
              <a:t>The goal is appropriate ownership — not maximum ownership.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BUILD VS BUY WAS THE WRONG FORK</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Possible owners</a:t>
            </a:r>
          </a:p>
        </p:txBody>
      </p:sp>
      <p:sp>
        <p:nvSpPr>
          <p:cNvPr id="5" name="Rounded Rectangle 4"/>
          <p:cNvSpPr/>
          <p:nvPr/>
        </p:nvSpPr>
        <p:spPr>
          <a:xfrm>
            <a:off x="502920" y="1554480"/>
            <a:ext cx="3590544"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Application</a:t>
            </a:r>
          </a:p>
          <a:p>
            <a:pPr algn="l">
              <a:spcBef>
                <a:spcPts val="0"/>
              </a:spcBef>
              <a:spcAft>
                <a:spcPts val="0"/>
              </a:spcAft>
            </a:pPr>
            <a:r>
              <a:rPr sz="1400" b="0" i="0">
                <a:solidFill>
                  <a:srgbClr val="242424"/>
                </a:solidFill>
                <a:latin typeface="Liberation Sans"/>
                <a:ea typeface="Liberation Sans"/>
                <a:cs typeface="Liberation Sans"/>
              </a:rPr>
              <a:t>Owns the important behavior.</a:t>
            </a:r>
          </a:p>
        </p:txBody>
      </p:sp>
      <p:sp>
        <p:nvSpPr>
          <p:cNvPr id="6" name="Rounded Rectangle 5"/>
          <p:cNvSpPr/>
          <p:nvPr/>
        </p:nvSpPr>
        <p:spPr>
          <a:xfrm>
            <a:off x="4294632" y="1554480"/>
            <a:ext cx="3590544"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Library</a:t>
            </a:r>
          </a:p>
          <a:p>
            <a:pPr algn="l">
              <a:spcBef>
                <a:spcPts val="0"/>
              </a:spcBef>
              <a:spcAft>
                <a:spcPts val="0"/>
              </a:spcAft>
            </a:pPr>
            <a:r>
              <a:rPr sz="1400" b="0" i="0">
                <a:solidFill>
                  <a:srgbClr val="242424"/>
                </a:solidFill>
                <a:latin typeface="Liberation Sans"/>
                <a:ea typeface="Liberation Sans"/>
                <a:cs typeface="Liberation Sans"/>
              </a:rPr>
              <a:t>Owns a mechanism.</a:t>
            </a:r>
          </a:p>
        </p:txBody>
      </p:sp>
      <p:sp>
        <p:nvSpPr>
          <p:cNvPr id="7" name="Rounded Rectangle 6"/>
          <p:cNvSpPr/>
          <p:nvPr/>
        </p:nvSpPr>
        <p:spPr>
          <a:xfrm>
            <a:off x="8086344" y="1554480"/>
            <a:ext cx="3590544"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Framework</a:t>
            </a:r>
          </a:p>
          <a:p>
            <a:pPr algn="l">
              <a:spcBef>
                <a:spcPts val="0"/>
              </a:spcBef>
              <a:spcAft>
                <a:spcPts val="0"/>
              </a:spcAft>
            </a:pPr>
            <a:r>
              <a:rPr sz="1400" b="0" i="0">
                <a:solidFill>
                  <a:srgbClr val="242424"/>
                </a:solidFill>
                <a:latin typeface="Liberation Sans"/>
                <a:ea typeface="Liberation Sans"/>
                <a:cs typeface="Liberation Sans"/>
              </a:rPr>
              <a:t>Owns part of the lifecycle.</a:t>
            </a:r>
          </a:p>
        </p:txBody>
      </p:sp>
      <p:sp>
        <p:nvSpPr>
          <p:cNvPr id="8" name="Rounded Rectangle 7"/>
          <p:cNvSpPr/>
          <p:nvPr/>
        </p:nvSpPr>
        <p:spPr>
          <a:xfrm>
            <a:off x="502920" y="3991356"/>
            <a:ext cx="3590544"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Platform</a:t>
            </a:r>
          </a:p>
          <a:p>
            <a:pPr algn="l">
              <a:spcBef>
                <a:spcPts val="0"/>
              </a:spcBef>
              <a:spcAft>
                <a:spcPts val="0"/>
              </a:spcAft>
            </a:pPr>
            <a:r>
              <a:rPr sz="1400" b="0" i="0">
                <a:solidFill>
                  <a:srgbClr val="242424"/>
                </a:solidFill>
                <a:latin typeface="Liberation Sans"/>
                <a:ea typeface="Liberation Sans"/>
                <a:cs typeface="Liberation Sans"/>
              </a:rPr>
              <a:t>Owns execution.</a:t>
            </a:r>
          </a:p>
        </p:txBody>
      </p:sp>
      <p:sp>
        <p:nvSpPr>
          <p:cNvPr id="9" name="Rounded Rectangle 8"/>
          <p:cNvSpPr/>
          <p:nvPr/>
        </p:nvSpPr>
        <p:spPr>
          <a:xfrm>
            <a:off x="4294632" y="3991356"/>
            <a:ext cx="3590544"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External service</a:t>
            </a:r>
          </a:p>
          <a:p>
            <a:pPr algn="l">
              <a:spcBef>
                <a:spcPts val="0"/>
              </a:spcBef>
              <a:spcAft>
                <a:spcPts val="0"/>
              </a:spcAft>
            </a:pPr>
            <a:r>
              <a:rPr sz="1400" b="0" i="0">
                <a:solidFill>
                  <a:srgbClr val="242424"/>
                </a:solidFill>
                <a:latin typeface="Liberation Sans"/>
                <a:ea typeface="Liberation Sans"/>
                <a:cs typeface="Liberation Sans"/>
              </a:rPr>
              <a:t>Owns an entire capability.</a:t>
            </a:r>
          </a:p>
        </p:txBody>
      </p:sp>
      <p:sp>
        <p:nvSpPr>
          <p:cNvPr id="10" name="Rounded Rectangle 9"/>
          <p:cNvSpPr/>
          <p:nvPr/>
        </p:nvSpPr>
        <p:spPr>
          <a:xfrm>
            <a:off x="8086344" y="3991356"/>
            <a:ext cx="3590544"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The test</a:t>
            </a:r>
          </a:p>
          <a:p>
            <a:pPr algn="l">
              <a:spcBef>
                <a:spcPts val="0"/>
              </a:spcBef>
              <a:spcAft>
                <a:spcPts val="0"/>
              </a:spcAft>
            </a:pPr>
            <a:r>
              <a:rPr sz="1400" b="0" i="0">
                <a:solidFill>
                  <a:srgbClr val="242424"/>
                </a:solidFill>
                <a:latin typeface="Liberation Sans"/>
                <a:ea typeface="Liberation Sans"/>
                <a:cs typeface="Liberation Sans"/>
              </a:rPr>
              <a:t>Can we understand, test, debug, and change the behavior that matters?</a:t>
            </a:r>
          </a:p>
        </p:txBody>
      </p:sp>
      <p:sp>
        <p:nvSpPr>
          <p:cNvPr id="11" name="Rectangle 10"/>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2" name="TextBox 11"/>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Ownership   ·   25 / 51</a:t>
            </a:r>
          </a:p>
        </p:txBody>
      </p:sp>
      <p:sp>
        <p:nvSpPr>
          <p:cNvPr id="13" name="Rectangle 12"/>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FRAMEWORKS SIT IN THE MIDDLE</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How much architectural control am I giving away — and is the reduction in complexity worth it?</a:t>
            </a:r>
          </a:p>
          <a:p>
            <a:pPr algn="l">
              <a:spcBef>
                <a:spcPts val="0"/>
              </a:spcBef>
              <a:spcAft>
                <a:spcPts val="600"/>
              </a:spcAft>
            </a:pPr>
            <a:r>
              <a:rPr sz="1600" b="0" i="0">
                <a:solidFill>
                  <a:srgbClr val="5A6570"/>
                </a:solidFill>
                <a:latin typeface="Liberation Sans"/>
                <a:ea typeface="Liberation Sans"/>
                <a:cs typeface="Liberation Sans"/>
              </a:rPr>
              <a:t>Not: frameworks good, platforms bad. A code-centric framework still owns structure, lifecycle, DI, execution, tests, extension.</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Ownership   ·   26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USEFUL DEFAULT</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Code owns the architecture. Libraries provide capabilities. Frameworks must justify their programming model. External execution platforms are exceptions, not defaults.</a:t>
            </a:r>
          </a:p>
          <a:p>
            <a:pPr algn="l">
              <a:spcBef>
                <a:spcPts val="0"/>
              </a:spcBef>
              <a:spcAft>
                <a:spcPts val="600"/>
              </a:spcAft>
            </a:pPr>
            <a:r>
              <a:rPr sz="1600" b="0" i="0">
                <a:solidFill>
                  <a:srgbClr val="5A6570"/>
                </a:solidFill>
                <a:latin typeface="Liberation Sans"/>
                <a:ea typeface="Liberation Sans"/>
                <a:cs typeface="Liberation Sans"/>
              </a:rPr>
              <a:t>A bias toward architectural ownership — not a ban on tools.</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Ownership   ·   27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BIAS, NOT AN IDEOLOGY</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Default path for code-owned projects</a:t>
            </a:r>
          </a:p>
        </p:txBody>
      </p:sp>
      <p:sp>
        <p:nvSpPr>
          <p:cNvPr id="5" name="Rounded Rectangle 4"/>
          <p:cNvSpPr/>
          <p:nvPr/>
        </p:nvSpPr>
        <p:spPr>
          <a:xfrm>
            <a:off x="502920" y="1600200"/>
            <a:ext cx="640080" cy="8686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400" b="1" i="0">
                <a:solidFill>
                  <a:srgbClr val="FFFFFF"/>
                </a:solidFill>
                <a:latin typeface="Liberation Serif"/>
                <a:ea typeface="Liberation Serif"/>
                <a:cs typeface="Liberation Serif"/>
              </a:rPr>
              <a:t>1</a:t>
            </a:r>
          </a:p>
        </p:txBody>
      </p:sp>
      <p:sp>
        <p:nvSpPr>
          <p:cNvPr id="6" name="Rounded Rectangle 5"/>
          <p:cNvSpPr/>
          <p:nvPr/>
        </p:nvSpPr>
        <p:spPr>
          <a:xfrm>
            <a:off x="1325880" y="1600200"/>
            <a:ext cx="10332720" cy="8686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91440"/>
          <a:lstStyle/>
          <a:p>
            <a:pPr algn="l">
              <a:spcBef>
                <a:spcPts val="0"/>
              </a:spcBef>
              <a:spcAft>
                <a:spcPts val="600"/>
              </a:spcAft>
            </a:pPr>
            <a:r>
              <a:rPr sz="2200" b="0" i="0">
                <a:solidFill>
                  <a:srgbClr val="1B2A4A"/>
                </a:solidFill>
                <a:latin typeface="Liberation Sans"/>
                <a:ea typeface="Liberation Sans"/>
                <a:cs typeface="Liberation Sans"/>
              </a:rPr>
              <a:t>Can a library solve the mechanism?</a:t>
            </a:r>
          </a:p>
        </p:txBody>
      </p:sp>
      <p:sp>
        <p:nvSpPr>
          <p:cNvPr id="7" name="Rounded Rectangle 6"/>
          <p:cNvSpPr/>
          <p:nvPr/>
        </p:nvSpPr>
        <p:spPr>
          <a:xfrm>
            <a:off x="502920" y="2697480"/>
            <a:ext cx="640080" cy="8686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400" b="1" i="0">
                <a:solidFill>
                  <a:srgbClr val="FFFFFF"/>
                </a:solidFill>
                <a:latin typeface="Liberation Serif"/>
                <a:ea typeface="Liberation Serif"/>
                <a:cs typeface="Liberation Serif"/>
              </a:rPr>
              <a:t>2</a:t>
            </a:r>
          </a:p>
        </p:txBody>
      </p:sp>
      <p:sp>
        <p:nvSpPr>
          <p:cNvPr id="8" name="Rounded Rectangle 7"/>
          <p:cNvSpPr/>
          <p:nvPr/>
        </p:nvSpPr>
        <p:spPr>
          <a:xfrm>
            <a:off x="1325880" y="2697480"/>
            <a:ext cx="10332720" cy="8686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91440"/>
          <a:lstStyle/>
          <a:p>
            <a:pPr algn="l">
              <a:spcBef>
                <a:spcPts val="0"/>
              </a:spcBef>
              <a:spcAft>
                <a:spcPts val="600"/>
              </a:spcAft>
            </a:pPr>
            <a:r>
              <a:rPr sz="2200" b="0" i="0">
                <a:solidFill>
                  <a:srgbClr val="1B2A4A"/>
                </a:solidFill>
                <a:latin typeface="Liberation Sans"/>
                <a:ea typeface="Liberation Sans"/>
                <a:cs typeface="Liberation Sans"/>
              </a:rPr>
              <a:t>Can a framework help without taking the architecture?</a:t>
            </a:r>
          </a:p>
        </p:txBody>
      </p:sp>
      <p:sp>
        <p:nvSpPr>
          <p:cNvPr id="9" name="Rounded Rectangle 8"/>
          <p:cNvSpPr/>
          <p:nvPr/>
        </p:nvSpPr>
        <p:spPr>
          <a:xfrm>
            <a:off x="502920" y="3794760"/>
            <a:ext cx="640080" cy="8686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400" b="1" i="0">
                <a:solidFill>
                  <a:srgbClr val="FFFFFF"/>
                </a:solidFill>
                <a:latin typeface="Liberation Serif"/>
                <a:ea typeface="Liberation Serif"/>
                <a:cs typeface="Liberation Serif"/>
              </a:rPr>
              <a:t>3</a:t>
            </a:r>
          </a:p>
        </p:txBody>
      </p:sp>
      <p:sp>
        <p:nvSpPr>
          <p:cNvPr id="10" name="Rounded Rectangle 9"/>
          <p:cNvSpPr/>
          <p:nvPr/>
        </p:nvSpPr>
        <p:spPr>
          <a:xfrm>
            <a:off x="1325880" y="3794760"/>
            <a:ext cx="10332720" cy="8686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91440"/>
          <a:lstStyle/>
          <a:p>
            <a:pPr algn="l">
              <a:spcBef>
                <a:spcPts val="0"/>
              </a:spcBef>
              <a:spcAft>
                <a:spcPts val="600"/>
              </a:spcAft>
            </a:pPr>
            <a:r>
              <a:rPr sz="2200" b="0" i="0">
                <a:solidFill>
                  <a:srgbClr val="1B2A4A"/>
                </a:solidFill>
                <a:latin typeface="Liberation Sans"/>
                <a:ea typeface="Liberation Sans"/>
                <a:cs typeface="Liberation Sans"/>
              </a:rPr>
              <a:t>Can a thin custom layer express the specific behavior?</a:t>
            </a:r>
          </a:p>
        </p:txBody>
      </p:sp>
      <p:sp>
        <p:nvSpPr>
          <p:cNvPr id="11" name="Rounded Rectangle 10"/>
          <p:cNvSpPr/>
          <p:nvPr/>
        </p:nvSpPr>
        <p:spPr>
          <a:xfrm>
            <a:off x="502920" y="4892039"/>
            <a:ext cx="640080" cy="8686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400" b="1" i="0">
                <a:solidFill>
                  <a:srgbClr val="FFFFFF"/>
                </a:solidFill>
                <a:latin typeface="Liberation Serif"/>
                <a:ea typeface="Liberation Serif"/>
                <a:cs typeface="Liberation Serif"/>
              </a:rPr>
              <a:t>4</a:t>
            </a:r>
          </a:p>
        </p:txBody>
      </p:sp>
      <p:sp>
        <p:nvSpPr>
          <p:cNvPr id="12" name="Rounded Rectangle 11"/>
          <p:cNvSpPr/>
          <p:nvPr/>
        </p:nvSpPr>
        <p:spPr>
          <a:xfrm>
            <a:off x="1325880" y="4892039"/>
            <a:ext cx="10332720" cy="8686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91440"/>
          <a:lstStyle/>
          <a:p>
            <a:pPr algn="l">
              <a:spcBef>
                <a:spcPts val="0"/>
              </a:spcBef>
              <a:spcAft>
                <a:spcPts val="600"/>
              </a:spcAft>
            </a:pPr>
            <a:r>
              <a:rPr sz="2200" b="0" i="0">
                <a:solidFill>
                  <a:srgbClr val="1B2A4A"/>
                </a:solidFill>
                <a:latin typeface="Liberation Sans"/>
                <a:ea typeface="Liberation Sans"/>
                <a:cs typeface="Liberation Sans"/>
              </a:rPr>
              <a:t>Only then consider a platform.</a:t>
            </a:r>
          </a:p>
        </p:txBody>
      </p:sp>
      <p:sp>
        <p:nvSpPr>
          <p:cNvPr id="13" name="Rectangle 12"/>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4" name="TextBox 13"/>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Ownership   ·   28 / 51</a:t>
            </a:r>
          </a:p>
        </p:txBody>
      </p:sp>
      <p:sp>
        <p:nvSpPr>
          <p:cNvPr id="15" name="Rectangle 14"/>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TWO TRAPS FOR PEOPLE WHO CAN BUILD</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Not “build it because I can.”  Not “use it because someone already built it.”</a:t>
            </a:r>
          </a:p>
          <a:p>
            <a:pPr algn="l">
              <a:spcBef>
                <a:spcPts val="0"/>
              </a:spcBef>
              <a:spcAft>
                <a:spcPts val="600"/>
              </a:spcAft>
            </a:pPr>
            <a:r>
              <a:rPr sz="1600" b="0" i="0">
                <a:solidFill>
                  <a:srgbClr val="5A6570"/>
                </a:solidFill>
                <a:latin typeface="Liberation Sans"/>
                <a:ea typeface="Liberation Sans"/>
                <a:cs typeface="Liberation Sans"/>
              </a:rPr>
              <a:t>Ask: which ownership boundary gives the lowest total engineering cost?</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Ownership   ·   29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3840480"/>
          </a:xfrm>
          <a:prstGeom prst="rect">
            <a:avLst/>
          </a:prstGeom>
          <a:noFill/>
        </p:spPr>
        <p:txBody>
          <a:bodyPr wrap="square" lIns="0" rIns="0" tIns="0" bIns="0"/>
          <a:lstStyle/>
          <a:p>
            <a:pPr algn="l">
              <a:spcBef>
                <a:spcPts val="0"/>
              </a:spcBef>
              <a:spcAft>
                <a:spcPts val="1400"/>
              </a:spcAft>
            </a:pPr>
            <a:r>
              <a:rPr sz="1600" b="1" i="0">
                <a:solidFill>
                  <a:srgbClr val="B88C4A"/>
                </a:solidFill>
                <a:latin typeface="Liberation Sans"/>
                <a:ea typeface="Liberation Sans"/>
                <a:cs typeface="Liberation Sans"/>
              </a:rPr>
              <a:t>Part V  ·  ≈ 23 minutes</a:t>
            </a:r>
          </a:p>
          <a:p>
            <a:pPr algn="l">
              <a:spcBef>
                <a:spcPts val="0"/>
              </a:spcBef>
              <a:spcAft>
                <a:spcPts val="1600"/>
              </a:spcAft>
            </a:pPr>
            <a:r>
              <a:rPr sz="4000" b="1" i="0">
                <a:solidFill>
                  <a:srgbClr val="FFFFFF"/>
                </a:solidFill>
                <a:latin typeface="Liberation Serif"/>
                <a:ea typeface="Liberation Serif"/>
                <a:cs typeface="Liberation Serif"/>
              </a:rPr>
              <a:t>AI agents change the equation</a:t>
            </a:r>
          </a:p>
          <a:p>
            <a:pPr algn="l">
              <a:spcBef>
                <a:spcPts val="0"/>
              </a:spcBef>
              <a:spcAft>
                <a:spcPts val="600"/>
              </a:spcAft>
            </a:pPr>
            <a:r>
              <a:rPr sz="2000" b="0" i="0">
                <a:solidFill>
                  <a:srgbClr val="FFF8EF"/>
                </a:solidFill>
                <a:latin typeface="Liberation Sans"/>
                <a:ea typeface="Liberation Sans"/>
                <a:cs typeface="Liberation Sans"/>
              </a:rPr>
              <a:t>Traditional tools delegate mechanisms or execution. Agents can delegate labor itself.</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NEW DIMENSION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Not the far end of library → framework → platform</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Conventional tool</a:t>
            </a:r>
          </a:p>
          <a:p>
            <a:pPr algn="l">
              <a:spcBef>
                <a:spcPts val="0"/>
              </a:spcBef>
              <a:spcAft>
                <a:spcPts val="1000"/>
              </a:spcAft>
            </a:pPr>
            <a:r>
              <a:rPr sz="2000" b="0" i="0">
                <a:solidFill>
                  <a:srgbClr val="242424"/>
                </a:solidFill>
                <a:latin typeface="Liberation Sans"/>
                <a:ea typeface="Liberation Sans"/>
                <a:cs typeface="Liberation Sans"/>
              </a:rPr>
              <a:t>•  Human decides.</a:t>
            </a:r>
          </a:p>
          <a:p>
            <a:pPr algn="l">
              <a:spcBef>
                <a:spcPts val="0"/>
              </a:spcBef>
              <a:spcAft>
                <a:spcPts val="1000"/>
              </a:spcAft>
            </a:pPr>
            <a:r>
              <a:rPr sz="2000" b="0" i="0">
                <a:solidFill>
                  <a:srgbClr val="242424"/>
                </a:solidFill>
                <a:latin typeface="Liberation Sans"/>
                <a:ea typeface="Liberation Sans"/>
                <a:cs typeface="Liberation Sans"/>
              </a:rPr>
              <a:t>•  Tool executes a procedure we designed.</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Coding agent</a:t>
            </a:r>
          </a:p>
          <a:p>
            <a:pPr algn="l">
              <a:spcBef>
                <a:spcPts val="0"/>
              </a:spcBef>
              <a:spcAft>
                <a:spcPts val="1000"/>
              </a:spcAft>
            </a:pPr>
            <a:r>
              <a:rPr sz="1600" b="0" i="0">
                <a:solidFill>
                  <a:srgbClr val="FFF8EF"/>
                </a:solidFill>
                <a:latin typeface="Liberation Sans"/>
                <a:ea typeface="Liberation Sans"/>
                <a:cs typeface="Liberation Sans"/>
              </a:rPr>
              <a:t>•  Receives goal, constraints, acceptance.</a:t>
            </a:r>
          </a:p>
          <a:p>
            <a:pPr algn="l">
              <a:spcBef>
                <a:spcPts val="0"/>
              </a:spcBef>
              <a:spcAft>
                <a:spcPts val="1000"/>
              </a:spcAft>
            </a:pPr>
            <a:r>
              <a:rPr sz="1600" b="0" i="0">
                <a:solidFill>
                  <a:srgbClr val="FFF8EF"/>
                </a:solidFill>
                <a:latin typeface="Liberation Sans"/>
                <a:ea typeface="Liberation Sans"/>
                <a:cs typeface="Liberation Sans"/>
              </a:rPr>
              <a:t>•  Researches, plans, implements, tests, debugs, refactors.</a:t>
            </a:r>
          </a:p>
          <a:p>
            <a:pPr algn="l">
              <a:spcBef>
                <a:spcPts val="0"/>
              </a:spcBef>
              <a:spcAft>
                <a:spcPts val="1000"/>
              </a:spcAft>
            </a:pPr>
            <a:r>
              <a:rPr sz="1600" b="0" i="0">
                <a:solidFill>
                  <a:srgbClr val="FFF8EF"/>
                </a:solidFill>
                <a:latin typeface="Liberation Sans"/>
                <a:ea typeface="Liberation Sans"/>
                <a:cs typeface="Liberation Sans"/>
              </a:rPr>
              <a:t>•  May choose what to inspect and how to revise.</a:t>
            </a:r>
          </a:p>
          <a:p>
            <a:pPr algn="l">
              <a:spcBef>
                <a:spcPts val="0"/>
              </a:spcBef>
              <a:spcAft>
                <a:spcPts val="1000"/>
              </a:spcAft>
            </a:pPr>
            <a:r>
              <a:rPr sz="1600" b="0" i="0">
                <a:solidFill>
                  <a:srgbClr val="FFF8EF"/>
                </a:solidFill>
                <a:latin typeface="Liberation Sans"/>
                <a:ea typeface="Liberation Sans"/>
                <a:cs typeface="Liberation Sans"/>
              </a:rPr>
              <a:t>•  Participates in designing the procedure.</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31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LOAD-BEARING DISTINCTION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Labor is not ownership</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Labor</a:t>
            </a:r>
          </a:p>
          <a:p>
            <a:pPr algn="l">
              <a:spcBef>
                <a:spcPts val="0"/>
              </a:spcBef>
              <a:spcAft>
                <a:spcPts val="1000"/>
              </a:spcAft>
            </a:pPr>
            <a:r>
              <a:rPr sz="2000" b="0" i="0">
                <a:solidFill>
                  <a:srgbClr val="242424"/>
                </a:solidFill>
                <a:latin typeface="Liberation Sans"/>
                <a:ea typeface="Liberation Sans"/>
                <a:cs typeface="Liberation Sans"/>
              </a:rPr>
              <a:t>•  Work performed to produce an outcome.</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Ownership</a:t>
            </a:r>
          </a:p>
          <a:p>
            <a:pPr algn="l">
              <a:spcBef>
                <a:spcPts val="0"/>
              </a:spcBef>
              <a:spcAft>
                <a:spcPts val="1000"/>
              </a:spcAft>
            </a:pPr>
            <a:r>
              <a:rPr sz="1600" b="0" i="0">
                <a:solidFill>
                  <a:srgbClr val="FFF8EF"/>
                </a:solidFill>
                <a:latin typeface="Liberation Sans"/>
                <a:ea typeface="Liberation Sans"/>
                <a:cs typeface="Liberation Sans"/>
              </a:rPr>
              <a:t>•  What should be done.</a:t>
            </a:r>
          </a:p>
          <a:p>
            <a:pPr algn="l">
              <a:spcBef>
                <a:spcPts val="0"/>
              </a:spcBef>
              <a:spcAft>
                <a:spcPts val="1000"/>
              </a:spcAft>
            </a:pPr>
            <a:r>
              <a:rPr sz="1600" b="0" i="0">
                <a:solidFill>
                  <a:srgbClr val="FFF8EF"/>
                </a:solidFill>
                <a:latin typeface="Liberation Sans"/>
                <a:ea typeface="Liberation Sans"/>
                <a:cs typeface="Liberation Sans"/>
              </a:rPr>
              <a:t>•  Under which constraints.</a:t>
            </a:r>
          </a:p>
          <a:p>
            <a:pPr algn="l">
              <a:spcBef>
                <a:spcPts val="0"/>
              </a:spcBef>
              <a:spcAft>
                <a:spcPts val="1000"/>
              </a:spcAft>
            </a:pPr>
            <a:r>
              <a:rPr sz="1600" b="0" i="0">
                <a:solidFill>
                  <a:srgbClr val="FFF8EF"/>
                </a:solidFill>
                <a:latin typeface="Liberation Sans"/>
                <a:ea typeface="Liberation Sans"/>
                <a:cs typeface="Liberation Sans"/>
              </a:rPr>
              <a:t>•  What counts as acceptable.</a:t>
            </a:r>
          </a:p>
          <a:p>
            <a:pPr algn="l">
              <a:spcBef>
                <a:spcPts val="0"/>
              </a:spcBef>
              <a:spcAft>
                <a:spcPts val="1000"/>
              </a:spcAft>
            </a:pPr>
            <a:r>
              <a:rPr sz="1600" b="0" i="0">
                <a:solidFill>
                  <a:srgbClr val="FFF8EF"/>
                </a:solidFill>
                <a:latin typeface="Liberation Sans"/>
                <a:ea typeface="Liberation Sans"/>
                <a:cs typeface="Liberation Sans"/>
              </a:rPr>
              <a:t>•  Whether to trust and adopt the result.</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32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DIFFERENT KIND OF DELEGATION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Agents can produce owned artifacts</a:t>
            </a:r>
          </a:p>
        </p:txBody>
      </p:sp>
      <p:sp>
        <p:nvSpPr>
          <p:cNvPr id="5" name="Rounded Rectangle 4"/>
          <p:cNvSpPr/>
          <p:nvPr/>
        </p:nvSpPr>
        <p:spPr>
          <a:xfrm>
            <a:off x="502920" y="1691640"/>
            <a:ext cx="2651760" cy="33832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1000"/>
              </a:spcAft>
            </a:pPr>
            <a:r>
              <a:rPr sz="1400" b="1" i="0">
                <a:solidFill>
                  <a:srgbClr val="B88C4A"/>
                </a:solidFill>
                <a:latin typeface="Liberation Sans"/>
                <a:ea typeface="Liberation Sans"/>
                <a:cs typeface="Liberation Sans"/>
              </a:rPr>
              <a:t>Human</a:t>
            </a:r>
          </a:p>
          <a:p>
            <a:pPr algn="l">
              <a:spcBef>
                <a:spcPts val="0"/>
              </a:spcBef>
              <a:spcAft>
                <a:spcPts val="800"/>
              </a:spcAft>
            </a:pPr>
            <a:r>
              <a:rPr sz="2000" b="1" i="0">
                <a:solidFill>
                  <a:srgbClr val="FFFFFF"/>
                </a:solidFill>
                <a:latin typeface="Liberation Serif"/>
                <a:ea typeface="Liberation Serif"/>
                <a:cs typeface="Liberation Serif"/>
              </a:rPr>
              <a:t>intent</a:t>
            </a:r>
          </a:p>
          <a:p>
            <a:pPr algn="l">
              <a:spcBef>
                <a:spcPts val="0"/>
              </a:spcBef>
              <a:spcAft>
                <a:spcPts val="800"/>
              </a:spcAft>
            </a:pPr>
            <a:r>
              <a:rPr sz="2000" b="1" i="0">
                <a:solidFill>
                  <a:srgbClr val="FFFFFF"/>
                </a:solidFill>
                <a:latin typeface="Liberation Serif"/>
                <a:ea typeface="Liberation Serif"/>
                <a:cs typeface="Liberation Serif"/>
              </a:rPr>
              <a:t>constraints</a:t>
            </a:r>
          </a:p>
          <a:p>
            <a:pPr algn="l">
              <a:spcBef>
                <a:spcPts val="0"/>
              </a:spcBef>
              <a:spcAft>
                <a:spcPts val="800"/>
              </a:spcAft>
            </a:pPr>
            <a:r>
              <a:rPr sz="2000" b="1" i="0">
                <a:solidFill>
                  <a:srgbClr val="FFFFFF"/>
                </a:solidFill>
                <a:latin typeface="Liberation Serif"/>
                <a:ea typeface="Liberation Serif"/>
                <a:cs typeface="Liberation Serif"/>
              </a:rPr>
              <a:t>acceptance</a:t>
            </a:r>
          </a:p>
        </p:txBody>
      </p:sp>
      <p:sp>
        <p:nvSpPr>
          <p:cNvPr id="6" name="TextBox 5"/>
          <p:cNvSpPr txBox="1"/>
          <p:nvPr/>
        </p:nvSpPr>
        <p:spPr>
          <a:xfrm>
            <a:off x="3017520" y="3017520"/>
            <a:ext cx="457200" cy="457200"/>
          </a:xfrm>
          <a:prstGeom prst="rect">
            <a:avLst/>
          </a:prstGeom>
          <a:noFill/>
        </p:spPr>
        <p:txBody>
          <a:bodyPr wrap="square" lIns="0" rIns="0" tIns="0" bIns="0"/>
          <a:lstStyle/>
          <a:p>
            <a:pPr algn="l">
              <a:spcBef>
                <a:spcPts val="0"/>
              </a:spcBef>
              <a:spcAft>
                <a:spcPts val="600"/>
              </a:spcAft>
            </a:pPr>
            <a:r>
              <a:rPr sz="2800" b="1" i="0">
                <a:solidFill>
                  <a:srgbClr val="C45C26"/>
                </a:solidFill>
                <a:latin typeface="Liberation Serif"/>
                <a:ea typeface="Liberation Serif"/>
                <a:cs typeface="Liberation Serif"/>
              </a:rPr>
              <a:t>→</a:t>
            </a:r>
          </a:p>
        </p:txBody>
      </p:sp>
      <p:sp>
        <p:nvSpPr>
          <p:cNvPr id="7" name="Rounded Rectangle 6"/>
          <p:cNvSpPr/>
          <p:nvPr/>
        </p:nvSpPr>
        <p:spPr>
          <a:xfrm>
            <a:off x="3383280" y="1691640"/>
            <a:ext cx="2651760" cy="3383280"/>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1000"/>
              </a:spcAft>
            </a:pPr>
            <a:r>
              <a:rPr sz="1400" b="1" i="0">
                <a:solidFill>
                  <a:srgbClr val="B88C4A"/>
                </a:solidFill>
                <a:latin typeface="Liberation Sans"/>
                <a:ea typeface="Liberation Sans"/>
                <a:cs typeface="Liberation Sans"/>
              </a:rPr>
              <a:t>Agent</a:t>
            </a:r>
          </a:p>
          <a:p>
            <a:pPr algn="l">
              <a:spcBef>
                <a:spcPts val="0"/>
              </a:spcBef>
              <a:spcAft>
                <a:spcPts val="800"/>
              </a:spcAft>
            </a:pPr>
            <a:r>
              <a:rPr sz="2000" b="1" i="0">
                <a:solidFill>
                  <a:srgbClr val="FFFFFF"/>
                </a:solidFill>
                <a:latin typeface="Liberation Serif"/>
                <a:ea typeface="Liberation Serif"/>
                <a:cs typeface="Liberation Serif"/>
              </a:rPr>
              <a:t>research</a:t>
            </a:r>
          </a:p>
          <a:p>
            <a:pPr algn="l">
              <a:spcBef>
                <a:spcPts val="0"/>
              </a:spcBef>
              <a:spcAft>
                <a:spcPts val="800"/>
              </a:spcAft>
            </a:pPr>
            <a:r>
              <a:rPr sz="2000" b="1" i="0">
                <a:solidFill>
                  <a:srgbClr val="FFFFFF"/>
                </a:solidFill>
                <a:latin typeface="Liberation Serif"/>
                <a:ea typeface="Liberation Serif"/>
                <a:cs typeface="Liberation Serif"/>
              </a:rPr>
              <a:t>plan</a:t>
            </a:r>
          </a:p>
          <a:p>
            <a:pPr algn="l">
              <a:spcBef>
                <a:spcPts val="0"/>
              </a:spcBef>
              <a:spcAft>
                <a:spcPts val="800"/>
              </a:spcAft>
            </a:pPr>
            <a:r>
              <a:rPr sz="2000" b="1" i="0">
                <a:solidFill>
                  <a:srgbClr val="FFFFFF"/>
                </a:solidFill>
                <a:latin typeface="Liberation Serif"/>
                <a:ea typeface="Liberation Serif"/>
                <a:cs typeface="Liberation Serif"/>
              </a:rPr>
              <a:t>implement</a:t>
            </a:r>
          </a:p>
          <a:p>
            <a:pPr algn="l">
              <a:spcBef>
                <a:spcPts val="0"/>
              </a:spcBef>
              <a:spcAft>
                <a:spcPts val="800"/>
              </a:spcAft>
            </a:pPr>
            <a:r>
              <a:rPr sz="2000" b="1" i="0">
                <a:solidFill>
                  <a:srgbClr val="FFFFFF"/>
                </a:solidFill>
                <a:latin typeface="Liberation Serif"/>
                <a:ea typeface="Liberation Serif"/>
                <a:cs typeface="Liberation Serif"/>
              </a:rPr>
              <a:t>test</a:t>
            </a:r>
          </a:p>
        </p:txBody>
      </p:sp>
      <p:sp>
        <p:nvSpPr>
          <p:cNvPr id="8" name="TextBox 7"/>
          <p:cNvSpPr txBox="1"/>
          <p:nvPr/>
        </p:nvSpPr>
        <p:spPr>
          <a:xfrm>
            <a:off x="5897880" y="3017520"/>
            <a:ext cx="457200" cy="457200"/>
          </a:xfrm>
          <a:prstGeom prst="rect">
            <a:avLst/>
          </a:prstGeom>
          <a:noFill/>
        </p:spPr>
        <p:txBody>
          <a:bodyPr wrap="square" lIns="0" rIns="0" tIns="0" bIns="0"/>
          <a:lstStyle/>
          <a:p>
            <a:pPr algn="l">
              <a:spcBef>
                <a:spcPts val="0"/>
              </a:spcBef>
              <a:spcAft>
                <a:spcPts val="600"/>
              </a:spcAft>
            </a:pPr>
            <a:r>
              <a:rPr sz="2800" b="1" i="0">
                <a:solidFill>
                  <a:srgbClr val="C45C26"/>
                </a:solidFill>
                <a:latin typeface="Liberation Serif"/>
                <a:ea typeface="Liberation Serif"/>
                <a:cs typeface="Liberation Serif"/>
              </a:rPr>
              <a:t>→</a:t>
            </a:r>
          </a:p>
        </p:txBody>
      </p:sp>
      <p:sp>
        <p:nvSpPr>
          <p:cNvPr id="9" name="Rounded Rectangle 8"/>
          <p:cNvSpPr/>
          <p:nvPr/>
        </p:nvSpPr>
        <p:spPr>
          <a:xfrm>
            <a:off x="6263640" y="1691640"/>
            <a:ext cx="2651760" cy="33832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1000"/>
              </a:spcAft>
            </a:pPr>
            <a:r>
              <a:rPr sz="1400" b="1" i="0">
                <a:solidFill>
                  <a:srgbClr val="B88C4A"/>
                </a:solidFill>
                <a:latin typeface="Liberation Sans"/>
                <a:ea typeface="Liberation Sans"/>
                <a:cs typeface="Liberation Sans"/>
              </a:rPr>
              <a:t>Repo</a:t>
            </a:r>
          </a:p>
          <a:p>
            <a:pPr algn="l">
              <a:spcBef>
                <a:spcPts val="0"/>
              </a:spcBef>
              <a:spcAft>
                <a:spcPts val="800"/>
              </a:spcAft>
            </a:pPr>
            <a:r>
              <a:rPr sz="2000" b="1" i="0">
                <a:solidFill>
                  <a:srgbClr val="FFFFFF"/>
                </a:solidFill>
                <a:latin typeface="Liberation Serif"/>
                <a:ea typeface="Liberation Serif"/>
                <a:cs typeface="Liberation Serif"/>
              </a:rPr>
              <a:t>inspect</a:t>
            </a:r>
          </a:p>
          <a:p>
            <a:pPr algn="l">
              <a:spcBef>
                <a:spcPts val="0"/>
              </a:spcBef>
              <a:spcAft>
                <a:spcPts val="800"/>
              </a:spcAft>
            </a:pPr>
            <a:r>
              <a:rPr sz="2000" b="1" i="0">
                <a:solidFill>
                  <a:srgbClr val="FFFFFF"/>
                </a:solidFill>
                <a:latin typeface="Liberation Serif"/>
                <a:ea typeface="Liberation Serif"/>
                <a:cs typeface="Liberation Serif"/>
              </a:rPr>
              <a:t>review</a:t>
            </a:r>
          </a:p>
          <a:p>
            <a:pPr algn="l">
              <a:spcBef>
                <a:spcPts val="0"/>
              </a:spcBef>
              <a:spcAft>
                <a:spcPts val="800"/>
              </a:spcAft>
            </a:pPr>
            <a:r>
              <a:rPr sz="2000" b="1" i="0">
                <a:solidFill>
                  <a:srgbClr val="FFFFFF"/>
                </a:solidFill>
                <a:latin typeface="Liberation Serif"/>
                <a:ea typeface="Liberation Serif"/>
                <a:cs typeface="Liberation Serif"/>
              </a:rPr>
              <a:t>reject</a:t>
            </a:r>
          </a:p>
          <a:p>
            <a:pPr algn="l">
              <a:spcBef>
                <a:spcPts val="0"/>
              </a:spcBef>
              <a:spcAft>
                <a:spcPts val="800"/>
              </a:spcAft>
            </a:pPr>
            <a:r>
              <a:rPr sz="2000" b="1" i="0">
                <a:solidFill>
                  <a:srgbClr val="FFFFFF"/>
                </a:solidFill>
                <a:latin typeface="Liberation Serif"/>
                <a:ea typeface="Liberation Serif"/>
                <a:cs typeface="Liberation Serif"/>
              </a:rPr>
              <a:t>keep</a:t>
            </a:r>
          </a:p>
        </p:txBody>
      </p:sp>
      <p:sp>
        <p:nvSpPr>
          <p:cNvPr id="10" name="TextBox 9"/>
          <p:cNvSpPr txBox="1"/>
          <p:nvPr/>
        </p:nvSpPr>
        <p:spPr>
          <a:xfrm>
            <a:off x="8778240" y="3017520"/>
            <a:ext cx="457200" cy="457200"/>
          </a:xfrm>
          <a:prstGeom prst="rect">
            <a:avLst/>
          </a:prstGeom>
          <a:noFill/>
        </p:spPr>
        <p:txBody>
          <a:bodyPr wrap="square" lIns="0" rIns="0" tIns="0" bIns="0"/>
          <a:lstStyle/>
          <a:p>
            <a:pPr algn="l">
              <a:spcBef>
                <a:spcPts val="0"/>
              </a:spcBef>
              <a:spcAft>
                <a:spcPts val="600"/>
              </a:spcAft>
            </a:pPr>
            <a:r>
              <a:rPr sz="2800" b="1" i="0">
                <a:solidFill>
                  <a:srgbClr val="C45C26"/>
                </a:solidFill>
                <a:latin typeface="Liberation Serif"/>
                <a:ea typeface="Liberation Serif"/>
                <a:cs typeface="Liberation Serif"/>
              </a:rPr>
              <a:t>→</a:t>
            </a:r>
          </a:p>
        </p:txBody>
      </p:sp>
      <p:sp>
        <p:nvSpPr>
          <p:cNvPr id="11" name="Rounded Rectangle 10"/>
          <p:cNvSpPr/>
          <p:nvPr/>
        </p:nvSpPr>
        <p:spPr>
          <a:xfrm>
            <a:off x="9144000" y="1691640"/>
            <a:ext cx="2651760" cy="33832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1000"/>
              </a:spcAft>
            </a:pPr>
            <a:r>
              <a:rPr sz="1400" b="1" i="0">
                <a:solidFill>
                  <a:srgbClr val="B88C4A"/>
                </a:solidFill>
                <a:latin typeface="Liberation Sans"/>
                <a:ea typeface="Liberation Sans"/>
                <a:cs typeface="Liberation Sans"/>
              </a:rPr>
              <a:t>Human</a:t>
            </a:r>
          </a:p>
          <a:p>
            <a:pPr algn="l">
              <a:spcBef>
                <a:spcPts val="0"/>
              </a:spcBef>
              <a:spcAft>
                <a:spcPts val="800"/>
              </a:spcAft>
            </a:pPr>
            <a:r>
              <a:rPr sz="2000" b="1" i="0">
                <a:solidFill>
                  <a:srgbClr val="FFFFFF"/>
                </a:solidFill>
                <a:latin typeface="Liberation Serif"/>
                <a:ea typeface="Liberation Serif"/>
                <a:cs typeface="Liberation Serif"/>
              </a:rPr>
              <a:t>still owns</a:t>
            </a:r>
          </a:p>
          <a:p>
            <a:pPr algn="l">
              <a:spcBef>
                <a:spcPts val="0"/>
              </a:spcBef>
              <a:spcAft>
                <a:spcPts val="800"/>
              </a:spcAft>
            </a:pPr>
            <a:r>
              <a:rPr sz="2000" b="1" i="0">
                <a:solidFill>
                  <a:srgbClr val="FFFFFF"/>
                </a:solidFill>
                <a:latin typeface="Liberation Serif"/>
                <a:ea typeface="Liberation Serif"/>
                <a:cs typeface="Liberation Serif"/>
              </a:rPr>
              <a:t>the result</a:t>
            </a:r>
          </a:p>
        </p:txBody>
      </p:sp>
      <p:sp>
        <p:nvSpPr>
          <p:cNvPr id="12" name="TextBox 11"/>
          <p:cNvSpPr txBox="1"/>
          <p:nvPr/>
        </p:nvSpPr>
        <p:spPr>
          <a:xfrm>
            <a:off x="502920" y="5257800"/>
            <a:ext cx="11155680" cy="1005840"/>
          </a:xfrm>
          <a:prstGeom prst="rect">
            <a:avLst/>
          </a:prstGeom>
          <a:noFill/>
        </p:spPr>
        <p:txBody>
          <a:bodyPr wrap="square" lIns="0" rIns="0" tIns="0" bIns="0"/>
          <a:lstStyle/>
          <a:p>
            <a:pPr algn="l">
              <a:spcBef>
                <a:spcPts val="0"/>
              </a:spcBef>
              <a:spcAft>
                <a:spcPts val="600"/>
              </a:spcAft>
            </a:pPr>
            <a:r>
              <a:rPr sz="1800" b="0" i="0">
                <a:solidFill>
                  <a:srgbClr val="242424"/>
                </a:solidFill>
                <a:latin typeface="Liberation Sans"/>
                <a:ea typeface="Liberation Sans"/>
                <a:cs typeface="Liberation Sans"/>
              </a:rPr>
              <a:t>The important property is not that AI produced it. It is that the output can become an owned artifact of the codebase.</a:t>
            </a:r>
          </a:p>
        </p:txBody>
      </p:sp>
      <p:sp>
        <p:nvSpPr>
          <p:cNvPr id="13" name="Rectangle 12"/>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4" name="TextBox 13"/>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33 / 51</a:t>
            </a:r>
          </a:p>
        </p:txBody>
      </p:sp>
      <p:sp>
        <p:nvSpPr>
          <p:cNvPr id="15" name="Rectangle 14"/>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SAME WORD, DIFFERENT RELATIONSHIP TO CONTROL</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Open-source platform vs agent-written code</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Adopt their platform</a:t>
            </a:r>
          </a:p>
          <a:p>
            <a:pPr algn="l">
              <a:spcBef>
                <a:spcPts val="0"/>
              </a:spcBef>
              <a:spcAft>
                <a:spcPts val="1000"/>
              </a:spcAft>
            </a:pPr>
            <a:r>
              <a:rPr sz="1600" b="0" i="0">
                <a:solidFill>
                  <a:srgbClr val="242424"/>
                </a:solidFill>
                <a:latin typeface="Liberation Sans"/>
                <a:ea typeface="Liberation Sans"/>
                <a:cs typeface="Liberation Sans"/>
              </a:rPr>
              <a:t>•  Your system</a:t>
            </a:r>
          </a:p>
          <a:p>
            <a:pPr algn="l">
              <a:spcBef>
                <a:spcPts val="0"/>
              </a:spcBef>
              <a:spcAft>
                <a:spcPts val="1000"/>
              </a:spcAft>
            </a:pPr>
            <a:r>
              <a:rPr sz="1600" b="0" i="0">
                <a:solidFill>
                  <a:srgbClr val="242424"/>
                </a:solidFill>
                <a:latin typeface="Liberation Sans"/>
                <a:ea typeface="Liberation Sans"/>
                <a:cs typeface="Liberation Sans"/>
              </a:rPr>
              <a:t>•  → their runtime</a:t>
            </a:r>
          </a:p>
          <a:p>
            <a:pPr algn="l">
              <a:spcBef>
                <a:spcPts val="0"/>
              </a:spcBef>
              <a:spcAft>
                <a:spcPts val="1000"/>
              </a:spcAft>
            </a:pPr>
            <a:r>
              <a:rPr sz="1600" b="0" i="0">
                <a:solidFill>
                  <a:srgbClr val="242424"/>
                </a:solidFill>
                <a:latin typeface="Liberation Sans"/>
                <a:ea typeface="Liberation Sans"/>
                <a:cs typeface="Liberation Sans"/>
              </a:rPr>
              <a:t>•  → their architecture</a:t>
            </a:r>
          </a:p>
          <a:p>
            <a:pPr algn="l">
              <a:spcBef>
                <a:spcPts val="0"/>
              </a:spcBef>
              <a:spcAft>
                <a:spcPts val="1000"/>
              </a:spcAft>
            </a:pPr>
            <a:r>
              <a:rPr sz="1600" b="0" i="0">
                <a:solidFill>
                  <a:srgbClr val="242424"/>
                </a:solidFill>
                <a:latin typeface="Liberation Sans"/>
                <a:ea typeface="Liberation Sans"/>
                <a:cs typeface="Liberation Sans"/>
              </a:rPr>
              <a:t>•  You can read the source. You still run their model.</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Agent implements your problem</a:t>
            </a:r>
          </a:p>
          <a:p>
            <a:pPr algn="l">
              <a:spcBef>
                <a:spcPts val="0"/>
              </a:spcBef>
              <a:spcAft>
                <a:spcPts val="1000"/>
              </a:spcAft>
            </a:pPr>
            <a:r>
              <a:rPr sz="1600" b="0" i="0">
                <a:solidFill>
                  <a:srgbClr val="FFF8EF"/>
                </a:solidFill>
                <a:latin typeface="Liberation Sans"/>
                <a:ea typeface="Liberation Sans"/>
                <a:cs typeface="Liberation Sans"/>
              </a:rPr>
              <a:t>•  Your problem</a:t>
            </a:r>
          </a:p>
          <a:p>
            <a:pPr algn="l">
              <a:spcBef>
                <a:spcPts val="0"/>
              </a:spcBef>
              <a:spcAft>
                <a:spcPts val="1000"/>
              </a:spcAft>
            </a:pPr>
            <a:r>
              <a:rPr sz="1600" b="0" i="0">
                <a:solidFill>
                  <a:srgbClr val="FFF8EF"/>
                </a:solidFill>
                <a:latin typeface="Liberation Sans"/>
                <a:ea typeface="Liberation Sans"/>
                <a:cs typeface="Liberation Sans"/>
              </a:rPr>
              <a:t>•  → agent labor</a:t>
            </a:r>
          </a:p>
          <a:p>
            <a:pPr algn="l">
              <a:spcBef>
                <a:spcPts val="0"/>
              </a:spcBef>
              <a:spcAft>
                <a:spcPts val="1000"/>
              </a:spcAft>
            </a:pPr>
            <a:r>
              <a:rPr sz="1600" b="0" i="0">
                <a:solidFill>
                  <a:srgbClr val="FFF8EF"/>
                </a:solidFill>
                <a:latin typeface="Liberation Sans"/>
                <a:ea typeface="Liberation Sans"/>
                <a:cs typeface="Liberation Sans"/>
              </a:rPr>
              <a:t>•  → tailored implementation</a:t>
            </a:r>
          </a:p>
          <a:p>
            <a:pPr algn="l">
              <a:spcBef>
                <a:spcPts val="0"/>
              </a:spcBef>
              <a:spcAft>
                <a:spcPts val="1000"/>
              </a:spcAft>
            </a:pPr>
            <a:r>
              <a:rPr sz="1600" b="0" i="0">
                <a:solidFill>
                  <a:srgbClr val="FFF8EF"/>
                </a:solidFill>
                <a:latin typeface="Liberation Sans"/>
                <a:ea typeface="Liberation Sans"/>
                <a:cs typeface="Liberation Sans"/>
              </a:rPr>
              <a:t>•  → your repository</a:t>
            </a:r>
          </a:p>
          <a:p>
            <a:pPr algn="l">
              <a:spcBef>
                <a:spcPts val="0"/>
              </a:spcBef>
              <a:spcAft>
                <a:spcPts val="1000"/>
              </a:spcAft>
            </a:pPr>
            <a:r>
              <a:rPr sz="1600" b="0" i="0">
                <a:solidFill>
                  <a:srgbClr val="FFF8EF"/>
                </a:solidFill>
                <a:latin typeface="Liberation Sans"/>
                <a:ea typeface="Liberation Sans"/>
                <a:cs typeface="Liberation Sans"/>
              </a:rPr>
              <a:t>•  Large labor, no new owner.</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34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WHAT LABOR SHOULD WE DELEGATE?</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The criterion is verifiability, not difficulty</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Highly delegatable</a:t>
            </a:r>
          </a:p>
          <a:p>
            <a:pPr algn="l">
              <a:spcBef>
                <a:spcPts val="0"/>
              </a:spcBef>
              <a:spcAft>
                <a:spcPts val="1000"/>
              </a:spcAft>
            </a:pPr>
            <a:r>
              <a:rPr sz="1600" b="0" i="0">
                <a:solidFill>
                  <a:srgbClr val="242424"/>
                </a:solidFill>
                <a:latin typeface="Liberation Sans"/>
                <a:ea typeface="Liberation Sans"/>
                <a:cs typeface="Liberation Sans"/>
              </a:rPr>
              <a:t>•  rename references</a:t>
            </a:r>
          </a:p>
          <a:p>
            <a:pPr algn="l">
              <a:spcBef>
                <a:spcPts val="0"/>
              </a:spcBef>
              <a:spcAft>
                <a:spcPts val="1000"/>
              </a:spcAft>
            </a:pPr>
            <a:r>
              <a:rPr sz="1600" b="0" i="0">
                <a:solidFill>
                  <a:srgbClr val="242424"/>
                </a:solidFill>
                <a:latin typeface="Liberation Sans"/>
                <a:ea typeface="Liberation Sans"/>
                <a:cs typeface="Liberation Sans"/>
              </a:rPr>
              <a:t>•  migrate this API</a:t>
            </a:r>
          </a:p>
          <a:p>
            <a:pPr algn="l">
              <a:spcBef>
                <a:spcPts val="0"/>
              </a:spcBef>
              <a:spcAft>
                <a:spcPts val="1000"/>
              </a:spcAft>
            </a:pPr>
            <a:r>
              <a:rPr sz="1600" b="0" i="0">
                <a:solidFill>
                  <a:srgbClr val="242424"/>
                </a:solidFill>
                <a:latin typeface="Liberation Sans"/>
                <a:ea typeface="Liberation Sans"/>
                <a:cs typeface="Liberation Sans"/>
              </a:rPr>
              <a:t>•  generate tests for these cases</a:t>
            </a:r>
          </a:p>
          <a:p>
            <a:pPr algn="l">
              <a:spcBef>
                <a:spcPts val="0"/>
              </a:spcBef>
              <a:spcAft>
                <a:spcPts val="1000"/>
              </a:spcAft>
            </a:pPr>
            <a:r>
              <a:rPr sz="1600" b="0" i="0">
                <a:solidFill>
                  <a:srgbClr val="242424"/>
                </a:solidFill>
                <a:latin typeface="Liberation Sans"/>
                <a:ea typeface="Liberation Sans"/>
                <a:cs typeface="Liberation Sans"/>
              </a:rPr>
              <a:t>•  implement a known algorithm</a:t>
            </a:r>
          </a:p>
          <a:p>
            <a:pPr algn="l">
              <a:spcBef>
                <a:spcPts val="0"/>
              </a:spcBef>
              <a:spcAft>
                <a:spcPts val="1000"/>
              </a:spcAft>
            </a:pPr>
            <a:r>
              <a:rPr sz="1600" b="0" i="0">
                <a:solidFill>
                  <a:srgbClr val="242424"/>
                </a:solidFill>
                <a:latin typeface="Liberation Sans"/>
                <a:ea typeface="Liberation Sans"/>
                <a:cs typeface="Liberation Sans"/>
              </a:rPr>
              <a:t>•  convert a representation</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Judgment-heavy</a:t>
            </a:r>
          </a:p>
          <a:p>
            <a:pPr algn="l">
              <a:spcBef>
                <a:spcPts val="0"/>
              </a:spcBef>
              <a:spcAft>
                <a:spcPts val="1000"/>
              </a:spcAft>
            </a:pPr>
            <a:r>
              <a:rPr sz="1600" b="0" i="0">
                <a:solidFill>
                  <a:srgbClr val="FFF8EF"/>
                </a:solidFill>
                <a:latin typeface="Liberation Sans"/>
                <a:ea typeface="Liberation Sans"/>
                <a:cs typeface="Liberation Sans"/>
              </a:rPr>
              <a:t>•  choose the architecture</a:t>
            </a:r>
          </a:p>
          <a:p>
            <a:pPr algn="l">
              <a:spcBef>
                <a:spcPts val="0"/>
              </a:spcBef>
              <a:spcAft>
                <a:spcPts val="1000"/>
              </a:spcAft>
            </a:pPr>
            <a:r>
              <a:rPr sz="1600" b="0" i="0">
                <a:solidFill>
                  <a:srgbClr val="FFF8EF"/>
                </a:solidFill>
                <a:latin typeface="Liberation Sans"/>
                <a:ea typeface="Liberation Sans"/>
                <a:cs typeface="Liberation Sans"/>
              </a:rPr>
              <a:t>•  interpret an ambiguous requirement</a:t>
            </a:r>
          </a:p>
          <a:p>
            <a:pPr algn="l">
              <a:spcBef>
                <a:spcPts val="0"/>
              </a:spcBef>
              <a:spcAft>
                <a:spcPts val="1000"/>
              </a:spcAft>
            </a:pPr>
            <a:r>
              <a:rPr sz="1600" b="0" i="0">
                <a:solidFill>
                  <a:srgbClr val="FFF8EF"/>
                </a:solidFill>
                <a:latin typeface="Liberation Sans"/>
                <a:ea typeface="Liberation Sans"/>
                <a:cs typeface="Liberation Sans"/>
              </a:rPr>
              <a:t>•  decide a business trade-off</a:t>
            </a:r>
          </a:p>
          <a:p>
            <a:pPr algn="l">
              <a:spcBef>
                <a:spcPts val="0"/>
              </a:spcBef>
              <a:spcAft>
                <a:spcPts val="1000"/>
              </a:spcAft>
            </a:pPr>
            <a:r>
              <a:rPr sz="1600" b="0" i="0">
                <a:solidFill>
                  <a:srgbClr val="FFF8EF"/>
                </a:solidFill>
                <a:latin typeface="Liberation Sans"/>
                <a:ea typeface="Liberation Sans"/>
                <a:cs typeface="Liberation Sans"/>
              </a:rPr>
              <a:t>•  determine acceptable risk</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35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WHO DEFINES “GOOD”?</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Two very different loops</a:t>
            </a:r>
          </a:p>
        </p:txBody>
      </p:sp>
      <p:sp>
        <p:nvSpPr>
          <p:cNvPr id="5" name="Rounded Rectangle 4"/>
          <p:cNvSpPr/>
          <p:nvPr/>
        </p:nvSpPr>
        <p:spPr>
          <a:xfrm>
            <a:off x="502920" y="1554480"/>
            <a:ext cx="5440680" cy="4709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1B2A4A"/>
                </a:solidFill>
                <a:latin typeface="Liberation Serif"/>
                <a:ea typeface="Liberation Serif"/>
                <a:cs typeface="Liberation Serif"/>
              </a:rPr>
              <a:t>You own the problem</a:t>
            </a:r>
          </a:p>
          <a:p>
            <a:pPr algn="l">
              <a:spcBef>
                <a:spcPts val="0"/>
              </a:spcBef>
              <a:spcAft>
                <a:spcPts val="1000"/>
              </a:spcAft>
            </a:pPr>
            <a:r>
              <a:rPr sz="2000" b="0" i="0">
                <a:solidFill>
                  <a:srgbClr val="242424"/>
                </a:solidFill>
                <a:latin typeface="Liberation Sans"/>
                <a:ea typeface="Liberation Sans"/>
                <a:cs typeface="Liberation Sans"/>
              </a:rPr>
              <a:t>•  You define the problem.</a:t>
            </a:r>
          </a:p>
          <a:p>
            <a:pPr algn="l">
              <a:spcBef>
                <a:spcPts val="0"/>
              </a:spcBef>
              <a:spcAft>
                <a:spcPts val="1000"/>
              </a:spcAft>
            </a:pPr>
            <a:r>
              <a:rPr sz="2000" b="0" i="0">
                <a:solidFill>
                  <a:srgbClr val="242424"/>
                </a:solidFill>
                <a:latin typeface="Liberation Sans"/>
                <a:ea typeface="Liberation Sans"/>
                <a:cs typeface="Liberation Sans"/>
              </a:rPr>
              <a:t>•  AI solves it.</a:t>
            </a:r>
          </a:p>
        </p:txBody>
      </p:sp>
      <p:sp>
        <p:nvSpPr>
          <p:cNvPr id="6" name="Rounded Rectangle 5"/>
          <p:cNvSpPr/>
          <p:nvPr/>
        </p:nvSpPr>
        <p:spPr>
          <a:xfrm>
            <a:off x="6172200" y="1554480"/>
            <a:ext cx="5440680" cy="47091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79222" bIns="128016"/>
          <a:lstStyle/>
          <a:p>
            <a:pPr algn="l">
              <a:spcBef>
                <a:spcPts val="0"/>
              </a:spcBef>
              <a:spcAft>
                <a:spcPts val="1400"/>
              </a:spcAft>
            </a:pPr>
            <a:r>
              <a:rPr sz="2200" b="1" i="0">
                <a:solidFill>
                  <a:srgbClr val="FFFFFF"/>
                </a:solidFill>
                <a:latin typeface="Liberation Serif"/>
                <a:ea typeface="Liberation Serif"/>
                <a:cs typeface="Liberation Serif"/>
              </a:rPr>
              <a:t>AI owns the interpretation</a:t>
            </a:r>
          </a:p>
          <a:p>
            <a:pPr algn="l">
              <a:spcBef>
                <a:spcPts val="0"/>
              </a:spcBef>
              <a:spcAft>
                <a:spcPts val="1000"/>
              </a:spcAft>
            </a:pPr>
            <a:r>
              <a:rPr sz="1600" b="0" i="0">
                <a:solidFill>
                  <a:srgbClr val="FFF8EF"/>
                </a:solidFill>
                <a:latin typeface="Liberation Sans"/>
                <a:ea typeface="Liberation Sans"/>
                <a:cs typeface="Liberation Sans"/>
              </a:rPr>
              <a:t>•  AI interprets the problem.</a:t>
            </a:r>
          </a:p>
          <a:p>
            <a:pPr algn="l">
              <a:spcBef>
                <a:spcPts val="0"/>
              </a:spcBef>
              <a:spcAft>
                <a:spcPts val="1000"/>
              </a:spcAft>
            </a:pPr>
            <a:r>
              <a:rPr sz="1600" b="0" i="0">
                <a:solidFill>
                  <a:srgbClr val="FFF8EF"/>
                </a:solidFill>
                <a:latin typeface="Liberation Sans"/>
                <a:ea typeface="Liberation Sans"/>
                <a:cs typeface="Liberation Sans"/>
              </a:rPr>
              <a:t>•  AI defines what good means.</a:t>
            </a:r>
          </a:p>
          <a:p>
            <a:pPr algn="l">
              <a:spcBef>
                <a:spcPts val="0"/>
              </a:spcBef>
              <a:spcAft>
                <a:spcPts val="1000"/>
              </a:spcAft>
            </a:pPr>
            <a:r>
              <a:rPr sz="1600" b="0" i="0">
                <a:solidFill>
                  <a:srgbClr val="FFF8EF"/>
                </a:solidFill>
                <a:latin typeface="Liberation Sans"/>
                <a:ea typeface="Liberation Sans"/>
                <a:cs typeface="Liberation Sans"/>
              </a:rPr>
              <a:t>•  AI solves its interpretation.</a:t>
            </a:r>
          </a:p>
        </p:txBody>
      </p:sp>
      <p:sp>
        <p:nvSpPr>
          <p:cNvPr id="7" name="Rectangle 6"/>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8" name="TextBox 7"/>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36 / 51</a:t>
            </a:r>
          </a:p>
        </p:txBody>
      </p:sp>
      <p:sp>
        <p:nvSpPr>
          <p:cNvPr id="9" name="Rectangle 8"/>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ASSISTANCE IS NOT DELEGATION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000" b="1" i="0">
                <a:solidFill>
                  <a:srgbClr val="1B2A4A"/>
                </a:solidFill>
                <a:latin typeface="Liberation Serif"/>
                <a:ea typeface="Liberation Serif"/>
                <a:cs typeface="Liberation Serif"/>
              </a:rPr>
              <a:t>Collaboration (grilling) sits in between</a:t>
            </a:r>
          </a:p>
        </p:txBody>
      </p:sp>
      <p:sp>
        <p:nvSpPr>
          <p:cNvPr id="5" name="TextBox 4"/>
          <p:cNvSpPr txBox="1"/>
          <p:nvPr/>
        </p:nvSpPr>
        <p:spPr>
          <a:xfrm>
            <a:off x="502920" y="1554480"/>
            <a:ext cx="11155680" cy="4754880"/>
          </a:xfrm>
          <a:prstGeom prst="rect">
            <a:avLst/>
          </a:prstGeom>
          <a:noFill/>
        </p:spPr>
        <p:txBody>
          <a:bodyPr wrap="square" lIns="0" rIns="0" tIns="0" bIns="0"/>
          <a:lstStyle/>
          <a:p>
            <a:pPr algn="l">
              <a:spcBef>
                <a:spcPts val="0"/>
              </a:spcBef>
              <a:spcAft>
                <a:spcPts val="1200"/>
              </a:spcAft>
            </a:pPr>
            <a:r>
              <a:rPr sz="1800" b="0" i="0">
                <a:solidFill>
                  <a:srgbClr val="242424"/>
                </a:solidFill>
                <a:latin typeface="Liberation Sans"/>
                <a:ea typeface="Liberation Sans"/>
                <a:cs typeface="Liberation Sans"/>
              </a:rPr>
              <a:t>▸  Propose an approach.</a:t>
            </a:r>
          </a:p>
          <a:p>
            <a:pPr algn="l">
              <a:spcBef>
                <a:spcPts val="0"/>
              </a:spcBef>
              <a:spcAft>
                <a:spcPts val="1200"/>
              </a:spcAft>
            </a:pPr>
            <a:r>
              <a:rPr sz="1800" b="0" i="0">
                <a:solidFill>
                  <a:srgbClr val="242424"/>
                </a:solidFill>
                <a:latin typeface="Liberation Sans"/>
                <a:ea typeface="Liberation Sans"/>
                <a:cs typeface="Liberation Sans"/>
              </a:rPr>
              <a:t>▸  What assumptions are you making?</a:t>
            </a:r>
          </a:p>
          <a:p>
            <a:pPr algn="l">
              <a:spcBef>
                <a:spcPts val="0"/>
              </a:spcBef>
              <a:spcAft>
                <a:spcPts val="1200"/>
              </a:spcAft>
            </a:pPr>
            <a:r>
              <a:rPr sz="1800" b="0" i="0">
                <a:solidFill>
                  <a:srgbClr val="242424"/>
                </a:solidFill>
                <a:latin typeface="Liberation Sans"/>
                <a:ea typeface="Liberation Sans"/>
                <a:cs typeface="Liberation Sans"/>
              </a:rPr>
              <a:t>▸  What could make this design wrong?</a:t>
            </a:r>
          </a:p>
          <a:p>
            <a:pPr algn="l">
              <a:spcBef>
                <a:spcPts val="0"/>
              </a:spcBef>
              <a:spcAft>
                <a:spcPts val="1200"/>
              </a:spcAft>
            </a:pPr>
            <a:r>
              <a:rPr sz="1800" b="0" i="0">
                <a:solidFill>
                  <a:srgbClr val="242424"/>
                </a:solidFill>
                <a:latin typeface="Liberation Sans"/>
                <a:ea typeface="Liberation Sans"/>
                <a:cs typeface="Liberation Sans"/>
              </a:rPr>
              <a:t>▸  Give the strongest argument against your own approach.</a:t>
            </a:r>
          </a:p>
          <a:p>
            <a:pPr algn="l">
              <a:spcBef>
                <a:spcPts val="0"/>
              </a:spcBef>
              <a:spcAft>
                <a:spcPts val="1200"/>
              </a:spcAft>
            </a:pPr>
            <a:r>
              <a:rPr sz="1800" b="0" i="0">
                <a:solidFill>
                  <a:srgbClr val="242424"/>
                </a:solidFill>
                <a:latin typeface="Liberation Sans"/>
                <a:ea typeface="Liberation Sans"/>
                <a:cs typeface="Liberation Sans"/>
              </a:rPr>
              <a:t>▸  What alternatives did you reject?</a:t>
            </a:r>
          </a:p>
          <a:p>
            <a:pPr algn="l">
              <a:spcBef>
                <a:spcPts val="0"/>
              </a:spcBef>
              <a:spcAft>
                <a:spcPts val="1200"/>
              </a:spcAft>
            </a:pPr>
            <a:r>
              <a:rPr sz="1800" b="0" i="0">
                <a:solidFill>
                  <a:srgbClr val="242424"/>
                </a:solidFill>
                <a:latin typeface="Liberation Sans"/>
                <a:ea typeface="Liberation Sans"/>
                <a:cs typeface="Liberation Sans"/>
              </a:rPr>
              <a:t>▸  Exploratory labor stays with the agent. Judgment stays with the human. Especially valuable before implementation.</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37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DOES GRILLING ELIMINATE REVIEW?</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Self-critique is not independent verification.</a:t>
            </a:r>
          </a:p>
          <a:p>
            <a:pPr algn="l">
              <a:spcBef>
                <a:spcPts val="0"/>
              </a:spcBef>
              <a:spcAft>
                <a:spcPts val="600"/>
              </a:spcAft>
            </a:pPr>
            <a:r>
              <a:rPr sz="1600" b="0" i="0">
                <a:solidFill>
                  <a:srgbClr val="5A6570"/>
                </a:solidFill>
                <a:latin typeface="Liberation Sans"/>
                <a:ea typeface="Liberation Sans"/>
                <a:cs typeface="Liberation Sans"/>
              </a:rPr>
              <a:t>An agent can wrap a flawed assumption in a consistent argument — including a critique that preserves the same misconception.</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38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REVIEW IS ALSO LABOR</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000" b="1" i="0">
                <a:solidFill>
                  <a:srgbClr val="1B2A4A"/>
                </a:solidFill>
                <a:latin typeface="Liberation Serif"/>
                <a:ea typeface="Liberation Serif"/>
                <a:cs typeface="Liberation Serif"/>
              </a:rPr>
              <a:t>Move humans to judgment, not to every mechanical check</a:t>
            </a:r>
          </a:p>
        </p:txBody>
      </p:sp>
      <p:sp>
        <p:nvSpPr>
          <p:cNvPr id="5" name="TextBox 4"/>
          <p:cNvSpPr txBox="1"/>
          <p:nvPr/>
        </p:nvSpPr>
        <p:spPr>
          <a:xfrm>
            <a:off x="502920" y="1554480"/>
            <a:ext cx="11155680" cy="4754880"/>
          </a:xfrm>
          <a:prstGeom prst="rect">
            <a:avLst/>
          </a:prstGeom>
          <a:noFill/>
        </p:spPr>
        <p:txBody>
          <a:bodyPr wrap="square" lIns="0" rIns="0" tIns="0" bIns="0"/>
          <a:lstStyle/>
          <a:p>
            <a:pPr algn="l">
              <a:spcBef>
                <a:spcPts val="0"/>
              </a:spcBef>
              <a:spcAft>
                <a:spcPts val="1800"/>
              </a:spcAft>
            </a:pPr>
            <a:r>
              <a:rPr sz="2200" b="0" i="0">
                <a:solidFill>
                  <a:srgbClr val="242424"/>
                </a:solidFill>
                <a:latin typeface="Liberation Sans"/>
                <a:ea typeface="Liberation Sans"/>
                <a:cs typeface="Liberation Sans"/>
              </a:rPr>
              <a:t>▸  Requirement comparison, consistency, bugs, edges, security, architecture, behavior.</a:t>
            </a:r>
          </a:p>
          <a:p>
            <a:pPr algn="l">
              <a:spcBef>
                <a:spcPts val="0"/>
              </a:spcBef>
              <a:spcAft>
                <a:spcPts val="1800"/>
              </a:spcAft>
            </a:pPr>
            <a:r>
              <a:rPr sz="2200" b="0" i="0">
                <a:solidFill>
                  <a:srgbClr val="242424"/>
                </a:solidFill>
                <a:latin typeface="Liberation Sans"/>
                <a:ea typeface="Liberation Sans"/>
                <a:cs typeface="Liberation Sans"/>
              </a:rPr>
              <a:t>▸  Much of that labor can be delegated: AI reviewer, security reviewer, tests, static analysis, simulation.</a:t>
            </a:r>
          </a:p>
          <a:p>
            <a:pPr algn="l">
              <a:spcBef>
                <a:spcPts val="0"/>
              </a:spcBef>
              <a:spcAft>
                <a:spcPts val="1800"/>
              </a:spcAft>
            </a:pPr>
            <a:r>
              <a:rPr sz="2200" b="0" i="0">
                <a:solidFill>
                  <a:srgbClr val="242424"/>
                </a:solidFill>
                <a:latin typeface="Liberation Sans"/>
                <a:ea typeface="Liberation Sans"/>
                <a:cs typeface="Liberation Sans"/>
              </a:rPr>
              <a:t>▸  The goal is not to eliminate human review.</a:t>
            </a:r>
          </a:p>
          <a:p>
            <a:pPr algn="l">
              <a:spcBef>
                <a:spcPts val="0"/>
              </a:spcBef>
              <a:spcAft>
                <a:spcPts val="1800"/>
              </a:spcAft>
            </a:pPr>
            <a:r>
              <a:rPr sz="2200" b="0" i="0">
                <a:solidFill>
                  <a:srgbClr val="242424"/>
                </a:solidFill>
                <a:latin typeface="Liberation Sans"/>
                <a:ea typeface="Liberation Sans"/>
                <a:cs typeface="Liberation Sans"/>
              </a:rPr>
              <a:t>▸  The labor of review can be delegated without delegating ownership of acceptance.</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39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OWNERSHIP OF ACCEPTANCE</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Keep humans responsible for the decisions that matter — not necessarily for all the work.</a:t>
            </a:r>
          </a:p>
          <a:p>
            <a:pPr algn="l">
              <a:spcBef>
                <a:spcPts val="0"/>
              </a:spcBef>
              <a:spcAft>
                <a:spcPts val="600"/>
              </a:spcAft>
            </a:pPr>
            <a:r>
              <a:rPr sz="1600" b="0" i="0">
                <a:solidFill>
                  <a:srgbClr val="5A6570"/>
                </a:solidFill>
                <a:latin typeface="Liberation Sans"/>
                <a:ea typeface="Liberation Sans"/>
                <a:cs typeface="Liberation Sans"/>
              </a:rPr>
              <a:t>Stop reading every line if you must. Do not stop owning 'is this acceptable for this system?'</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40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DECISION DELEGATION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Who owns the decision?</a:t>
            </a:r>
          </a:p>
        </p:txBody>
      </p:sp>
      <p:sp>
        <p:nvSpPr>
          <p:cNvPr id="5" name="Rounded Rectangle 4"/>
          <p:cNvSpPr/>
          <p:nvPr/>
        </p:nvSpPr>
        <p:spPr>
          <a:xfrm>
            <a:off x="502920" y="1554480"/>
            <a:ext cx="3840480" cy="6400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1800" b="1" i="0">
                <a:solidFill>
                  <a:srgbClr val="1B2A4A"/>
                </a:solidFill>
                <a:latin typeface="Liberation Sans"/>
                <a:ea typeface="Liberation Sans"/>
                <a:cs typeface="Liberation Sans"/>
              </a:rPr>
              <a:t>Human does everything</a:t>
            </a:r>
          </a:p>
        </p:txBody>
      </p:sp>
      <p:sp>
        <p:nvSpPr>
          <p:cNvPr id="6" name="Rounded Rectangle 5"/>
          <p:cNvSpPr/>
          <p:nvPr/>
        </p:nvSpPr>
        <p:spPr>
          <a:xfrm>
            <a:off x="502920" y="2304288"/>
            <a:ext cx="4983480" cy="6400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1800" b="1" i="0">
                <a:solidFill>
                  <a:srgbClr val="1B2A4A"/>
                </a:solidFill>
                <a:latin typeface="Liberation Sans"/>
                <a:ea typeface="Liberation Sans"/>
                <a:cs typeface="Liberation Sans"/>
              </a:rPr>
              <a:t>AI assists</a:t>
            </a:r>
          </a:p>
        </p:txBody>
      </p:sp>
      <p:sp>
        <p:nvSpPr>
          <p:cNvPr id="7" name="Rounded Rectangle 6"/>
          <p:cNvSpPr/>
          <p:nvPr/>
        </p:nvSpPr>
        <p:spPr>
          <a:xfrm>
            <a:off x="502920" y="3054096"/>
            <a:ext cx="6126480" cy="64008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1800" b="1" i="0">
                <a:solidFill>
                  <a:srgbClr val="1B2A4A"/>
                </a:solidFill>
                <a:latin typeface="Liberation Sans"/>
                <a:ea typeface="Liberation Sans"/>
                <a:cs typeface="Liberation Sans"/>
              </a:rPr>
              <a:t>AI performs defined labor</a:t>
            </a:r>
          </a:p>
        </p:txBody>
      </p:sp>
      <p:sp>
        <p:nvSpPr>
          <p:cNvPr id="8" name="Rounded Rectangle 7"/>
          <p:cNvSpPr/>
          <p:nvPr/>
        </p:nvSpPr>
        <p:spPr>
          <a:xfrm>
            <a:off x="502920" y="3803904"/>
            <a:ext cx="7269480" cy="640080"/>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1800" b="1" i="0">
                <a:solidFill>
                  <a:srgbClr val="FFFFFF"/>
                </a:solidFill>
                <a:latin typeface="Liberation Sans"/>
                <a:ea typeface="Liberation Sans"/>
                <a:cs typeface="Liberation Sans"/>
              </a:rPr>
              <a:t>AI plans the labor</a:t>
            </a:r>
          </a:p>
        </p:txBody>
      </p:sp>
      <p:sp>
        <p:nvSpPr>
          <p:cNvPr id="9" name="Rounded Rectangle 8"/>
          <p:cNvSpPr/>
          <p:nvPr/>
        </p:nvSpPr>
        <p:spPr>
          <a:xfrm>
            <a:off x="502920" y="4553712"/>
            <a:ext cx="8412480" cy="640080"/>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1800" b="1" i="0">
                <a:solidFill>
                  <a:srgbClr val="FFFFFF"/>
                </a:solidFill>
                <a:latin typeface="Liberation Sans"/>
                <a:ea typeface="Liberation Sans"/>
                <a:cs typeface="Liberation Sans"/>
              </a:rPr>
              <a:t>AI chooses the procedure</a:t>
            </a:r>
          </a:p>
        </p:txBody>
      </p:sp>
      <p:sp>
        <p:nvSpPr>
          <p:cNvPr id="10" name="Rounded Rectangle 9"/>
          <p:cNvSpPr/>
          <p:nvPr/>
        </p:nvSpPr>
        <p:spPr>
          <a:xfrm>
            <a:off x="502920" y="5303519"/>
            <a:ext cx="9555480" cy="640080"/>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1800" b="1" i="0">
                <a:solidFill>
                  <a:srgbClr val="FFFFFF"/>
                </a:solidFill>
                <a:latin typeface="Liberation Sans"/>
                <a:ea typeface="Liberation Sans"/>
                <a:cs typeface="Liberation Sans"/>
              </a:rPr>
              <a:t>AI makes consequential decisions</a:t>
            </a:r>
          </a:p>
        </p:txBody>
      </p:sp>
      <p:sp>
        <p:nvSpPr>
          <p:cNvPr id="11" name="TextBox 10"/>
          <p:cNvSpPr txBox="1"/>
          <p:nvPr/>
        </p:nvSpPr>
        <p:spPr>
          <a:xfrm>
            <a:off x="7863840" y="1554480"/>
            <a:ext cx="3840480" cy="4572000"/>
          </a:xfrm>
          <a:prstGeom prst="rect">
            <a:avLst/>
          </a:prstGeom>
          <a:noFill/>
        </p:spPr>
        <p:txBody>
          <a:bodyPr wrap="square" tIns="64007"/>
          <a:lstStyle/>
          <a:p>
            <a:pPr algn="l">
              <a:spcBef>
                <a:spcPts val="0"/>
              </a:spcBef>
              <a:spcAft>
                <a:spcPts val="1200"/>
              </a:spcAft>
            </a:pPr>
            <a:r>
              <a:rPr sz="1600" b="1" i="0">
                <a:solidFill>
                  <a:srgbClr val="C45C26"/>
                </a:solidFill>
                <a:latin typeface="Liberation Sans"/>
                <a:ea typeface="Liberation Sans"/>
                <a:cs typeface="Liberation Sans"/>
              </a:rPr>
              <a:t>Further down this path:</a:t>
            </a:r>
          </a:p>
          <a:p>
            <a:pPr algn="l">
              <a:spcBef>
                <a:spcPts val="0"/>
              </a:spcBef>
              <a:spcAft>
                <a:spcPts val="1000"/>
              </a:spcAft>
            </a:pPr>
            <a:r>
              <a:rPr sz="1600" b="0" i="0">
                <a:solidFill>
                  <a:srgbClr val="242424"/>
                </a:solidFill>
                <a:latin typeface="Liberation Sans"/>
                <a:ea typeface="Liberation Sans"/>
                <a:cs typeface="Liberation Sans"/>
              </a:rPr>
              <a:t>•  stronger governance</a:t>
            </a:r>
          </a:p>
          <a:p>
            <a:pPr algn="l">
              <a:spcBef>
                <a:spcPts val="0"/>
              </a:spcBef>
              <a:spcAft>
                <a:spcPts val="1000"/>
              </a:spcAft>
            </a:pPr>
            <a:r>
              <a:rPr sz="1600" b="0" i="0">
                <a:solidFill>
                  <a:srgbClr val="242424"/>
                </a:solidFill>
                <a:latin typeface="Liberation Sans"/>
                <a:ea typeface="Liberation Sans"/>
                <a:cs typeface="Liberation Sans"/>
              </a:rPr>
              <a:t>•  stronger verification</a:t>
            </a:r>
          </a:p>
          <a:p>
            <a:pPr algn="l">
              <a:spcBef>
                <a:spcPts val="0"/>
              </a:spcBef>
              <a:spcAft>
                <a:spcPts val="1000"/>
              </a:spcAft>
            </a:pPr>
            <a:r>
              <a:rPr sz="1600" b="0" i="0">
                <a:solidFill>
                  <a:srgbClr val="242424"/>
                </a:solidFill>
                <a:latin typeface="Liberation Sans"/>
                <a:ea typeface="Liberation Sans"/>
                <a:cs typeface="Liberation Sans"/>
              </a:rPr>
              <a:t>•  more reversibility</a:t>
            </a:r>
          </a:p>
          <a:p>
            <a:pPr algn="l">
              <a:spcBef>
                <a:spcPts val="0"/>
              </a:spcBef>
              <a:spcAft>
                <a:spcPts val="1000"/>
              </a:spcAft>
            </a:pPr>
            <a:r>
              <a:rPr sz="1600" b="0" i="0">
                <a:solidFill>
                  <a:srgbClr val="242424"/>
                </a:solidFill>
                <a:latin typeface="Liberation Sans"/>
                <a:ea typeface="Liberation Sans"/>
                <a:cs typeface="Liberation Sans"/>
              </a:rPr>
              <a:t>•  more explicit constraints</a:t>
            </a:r>
          </a:p>
        </p:txBody>
      </p:sp>
      <p:sp>
        <p:nvSpPr>
          <p:cNvPr id="12" name="Rectangle 11"/>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3" name="TextBox 12"/>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41 / 51</a:t>
            </a:r>
          </a:p>
        </p:txBody>
      </p:sp>
      <p:sp>
        <p:nvSpPr>
          <p:cNvPr id="14" name="Rectangle 13"/>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ECONOMICS OF AI DELEGATION</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Complexity moved to verification</a:t>
            </a:r>
          </a:p>
        </p:txBody>
      </p:sp>
      <p:sp>
        <p:nvSpPr>
          <p:cNvPr id="5" name="Rounded Rectangle 4"/>
          <p:cNvSpPr/>
          <p:nvPr/>
        </p:nvSpPr>
        <p:spPr>
          <a:xfrm>
            <a:off x="502920" y="1600200"/>
            <a:ext cx="5349240" cy="31089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0817" bIns="100584"/>
          <a:lstStyle/>
          <a:p>
            <a:pPr algn="l">
              <a:spcBef>
                <a:spcPts val="0"/>
              </a:spcBef>
              <a:spcAft>
                <a:spcPts val="800"/>
              </a:spcAft>
            </a:pPr>
            <a:r>
              <a:rPr sz="1400" b="1" i="0">
                <a:solidFill>
                  <a:srgbClr val="C45C26"/>
                </a:solidFill>
                <a:latin typeface="Liberation Sans"/>
                <a:ea typeface="Liberation Sans"/>
                <a:cs typeface="Liberation Sans"/>
              </a:rPr>
              <a:t>Then</a:t>
            </a:r>
          </a:p>
          <a:p>
            <a:pPr algn="l">
              <a:spcBef>
                <a:spcPts val="0"/>
              </a:spcBef>
              <a:spcAft>
                <a:spcPts val="1200"/>
              </a:spcAft>
            </a:pPr>
            <a:r>
              <a:rPr sz="3200" b="1" i="0">
                <a:solidFill>
                  <a:srgbClr val="1B2A4A"/>
                </a:solidFill>
                <a:latin typeface="Liberation Serif"/>
                <a:ea typeface="Liberation Serif"/>
                <a:cs typeface="Liberation Serif"/>
              </a:rPr>
              <a:t>3 days coding</a:t>
            </a:r>
          </a:p>
          <a:p>
            <a:pPr algn="l">
              <a:spcBef>
                <a:spcPts val="0"/>
              </a:spcBef>
              <a:spcAft>
                <a:spcPts val="600"/>
              </a:spcAft>
            </a:pPr>
            <a:r>
              <a:rPr sz="1600" b="0" i="0">
                <a:solidFill>
                  <a:srgbClr val="242424"/>
                </a:solidFill>
                <a:latin typeface="Liberation Sans"/>
                <a:ea typeface="Liberation Sans"/>
                <a:cs typeface="Liberation Sans"/>
              </a:rPr>
              <a:t>Production was the bottleneck.</a:t>
            </a:r>
          </a:p>
        </p:txBody>
      </p:sp>
      <p:sp>
        <p:nvSpPr>
          <p:cNvPr id="6" name="Rounded Rectangle 5"/>
          <p:cNvSpPr/>
          <p:nvPr/>
        </p:nvSpPr>
        <p:spPr>
          <a:xfrm>
            <a:off x="6309360" y="1600200"/>
            <a:ext cx="5349240" cy="31089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0817" bIns="100584"/>
          <a:lstStyle/>
          <a:p>
            <a:pPr algn="l">
              <a:spcBef>
                <a:spcPts val="0"/>
              </a:spcBef>
              <a:spcAft>
                <a:spcPts val="800"/>
              </a:spcAft>
            </a:pPr>
            <a:r>
              <a:rPr sz="1400" b="1" i="0">
                <a:solidFill>
                  <a:srgbClr val="B88C4A"/>
                </a:solidFill>
                <a:latin typeface="Liberation Sans"/>
                <a:ea typeface="Liberation Sans"/>
                <a:cs typeface="Liberation Sans"/>
              </a:rPr>
              <a:t>Now</a:t>
            </a:r>
          </a:p>
          <a:p>
            <a:pPr algn="l">
              <a:spcBef>
                <a:spcPts val="0"/>
              </a:spcBef>
              <a:spcAft>
                <a:spcPts val="800"/>
              </a:spcAft>
            </a:pPr>
            <a:r>
              <a:rPr sz="2800" b="1" i="0">
                <a:solidFill>
                  <a:srgbClr val="FFFFFF"/>
                </a:solidFill>
                <a:latin typeface="Liberation Serif"/>
                <a:ea typeface="Liberation Serif"/>
                <a:cs typeface="Liberation Serif"/>
              </a:rPr>
              <a:t>2 hours to generate</a:t>
            </a:r>
          </a:p>
          <a:p>
            <a:pPr algn="l">
              <a:spcBef>
                <a:spcPts val="0"/>
              </a:spcBef>
              <a:spcAft>
                <a:spcPts val="1200"/>
              </a:spcAft>
            </a:pPr>
            <a:r>
              <a:rPr sz="2400" b="0" i="0">
                <a:solidFill>
                  <a:srgbClr val="FFF8EF"/>
                </a:solidFill>
                <a:latin typeface="Liberation Serif"/>
                <a:ea typeface="Liberation Serif"/>
                <a:cs typeface="Liberation Serif"/>
              </a:rPr>
              <a:t>+ 2 days to understand</a:t>
            </a:r>
          </a:p>
          <a:p>
            <a:pPr algn="l">
              <a:spcBef>
                <a:spcPts val="0"/>
              </a:spcBef>
              <a:spcAft>
                <a:spcPts val="600"/>
              </a:spcAft>
            </a:pPr>
            <a:r>
              <a:rPr sz="1600" b="0" i="0">
                <a:solidFill>
                  <a:srgbClr val="FFF8EF"/>
                </a:solidFill>
                <a:latin typeface="Liberation Sans"/>
                <a:ea typeface="Liberation Sans"/>
                <a:cs typeface="Liberation Sans"/>
              </a:rPr>
              <a:t>The bottleneck moved. It did not vanish.</a:t>
            </a:r>
          </a:p>
        </p:txBody>
      </p:sp>
      <p:sp>
        <p:nvSpPr>
          <p:cNvPr id="7" name="Rounded Rectangle 6"/>
          <p:cNvSpPr/>
          <p:nvPr/>
        </p:nvSpPr>
        <p:spPr>
          <a:xfrm>
            <a:off x="502920" y="4937760"/>
            <a:ext cx="11155680" cy="12801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91440"/>
          <a:lstStyle/>
          <a:p>
            <a:pPr algn="l">
              <a:spcBef>
                <a:spcPts val="0"/>
              </a:spcBef>
              <a:spcAft>
                <a:spcPts val="600"/>
              </a:spcAft>
            </a:pPr>
            <a:r>
              <a:rPr sz="2200" b="1" i="1">
                <a:solidFill>
                  <a:srgbClr val="1B2A4A"/>
                </a:solidFill>
                <a:latin typeface="Liberation Serif"/>
                <a:ea typeface="Liberation Serif"/>
                <a:cs typeface="Liberation Serif"/>
              </a:rPr>
              <a:t>Automate verification as aggressively as you automate production.</a:t>
            </a:r>
          </a:p>
        </p:txBody>
      </p:sp>
      <p:sp>
        <p:nvSpPr>
          <p:cNvPr id="8" name="Rectangle 7"/>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9" name="TextBox 8"/>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42 / 51</a:t>
            </a:r>
          </a:p>
        </p:txBody>
      </p:sp>
      <p:sp>
        <p:nvSpPr>
          <p:cNvPr id="10" name="Rectangle 9"/>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A PRINCIPLE FOR AI ENGINEERING</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Delegate generation aggressively; delegate acceptance conservatively.</a:t>
            </a:r>
          </a:p>
          <a:p>
            <a:pPr algn="l">
              <a:spcBef>
                <a:spcPts val="0"/>
              </a:spcBef>
              <a:spcAft>
                <a:spcPts val="600"/>
              </a:spcAft>
            </a:pPr>
            <a:r>
              <a:rPr sz="1600" b="0" i="0">
                <a:solidFill>
                  <a:srgbClr val="5A6570"/>
                </a:solidFill>
                <a:latin typeface="Liberation Sans"/>
                <a:ea typeface="Liberation Sans"/>
                <a:cs typeface="Liberation Sans"/>
              </a:rPr>
              <a:t>The more autonomous generation becomes, the stronger the evidence for acceptance must be.</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AI labor   ·   43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15600" cy="3840480"/>
          </a:xfrm>
          <a:prstGeom prst="rect">
            <a:avLst/>
          </a:prstGeom>
          <a:noFill/>
        </p:spPr>
        <p:txBody>
          <a:bodyPr wrap="square" lIns="0" rIns="0" tIns="0" bIns="0"/>
          <a:lstStyle/>
          <a:p>
            <a:pPr algn="l">
              <a:spcBef>
                <a:spcPts val="0"/>
              </a:spcBef>
              <a:spcAft>
                <a:spcPts val="1400"/>
              </a:spcAft>
            </a:pPr>
            <a:r>
              <a:rPr sz="1600" b="1" i="0">
                <a:solidFill>
                  <a:srgbClr val="B88C4A"/>
                </a:solidFill>
                <a:latin typeface="Liberation Sans"/>
                <a:ea typeface="Liberation Sans"/>
                <a:cs typeface="Liberation Sans"/>
              </a:rPr>
              <a:t>Part VI  ·  ≈ 12 minutes</a:t>
            </a:r>
          </a:p>
          <a:p>
            <a:pPr algn="l">
              <a:spcBef>
                <a:spcPts val="0"/>
              </a:spcBef>
              <a:spcAft>
                <a:spcPts val="1600"/>
              </a:spcAft>
            </a:pPr>
            <a:r>
              <a:rPr sz="4000" b="1" i="0">
                <a:solidFill>
                  <a:srgbClr val="FFFFFF"/>
                </a:solidFill>
                <a:latin typeface="Liberation Serif"/>
                <a:ea typeface="Liberation Serif"/>
                <a:cs typeface="Liberation Serif"/>
              </a:rPr>
              <a:t>A decision framework</a:t>
            </a:r>
          </a:p>
          <a:p>
            <a:pPr algn="l">
              <a:spcBef>
                <a:spcPts val="0"/>
              </a:spcBef>
              <a:spcAft>
                <a:spcPts val="600"/>
              </a:spcAft>
            </a:pPr>
            <a:r>
              <a:rPr sz="2000" b="0" i="0">
                <a:solidFill>
                  <a:srgbClr val="FFF8EF"/>
                </a:solidFill>
                <a:latin typeface="Liberation Sans"/>
                <a:ea typeface="Liberation Sans"/>
                <a:cs typeface="Liberation Sans"/>
              </a:rPr>
              <a:t>Every engineering decision is partly about the location, ownership, and movement of complexity.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DEEPER FRAMEWORK</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Seven questions, not a feature list</a:t>
            </a:r>
          </a:p>
        </p:txBody>
      </p:sp>
      <p:sp>
        <p:nvSpPr>
          <p:cNvPr id="5" name="Rounded Rectangle 4"/>
          <p:cNvSpPr/>
          <p:nvPr/>
        </p:nvSpPr>
        <p:spPr>
          <a:xfrm>
            <a:off x="502920" y="1572768"/>
            <a:ext cx="2743200" cy="19659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C45C26"/>
                </a:solidFill>
                <a:latin typeface="Liberation Sans"/>
                <a:ea typeface="Liberation Sans"/>
                <a:cs typeface="Liberation Sans"/>
              </a:rPr>
              <a:t>Complexity</a:t>
            </a:r>
          </a:p>
          <a:p>
            <a:pPr algn="l">
              <a:spcBef>
                <a:spcPts val="0"/>
              </a:spcBef>
              <a:spcAft>
                <a:spcPts val="600"/>
              </a:spcAft>
            </a:pPr>
            <a:r>
              <a:rPr sz="2000" b="1" i="0">
                <a:solidFill>
                  <a:srgbClr val="1B2A4A"/>
                </a:solidFill>
                <a:latin typeface="Liberation Serif"/>
                <a:ea typeface="Liberation Serif"/>
                <a:cs typeface="Liberation Serif"/>
              </a:rPr>
              <a:t>Where does it live?</a:t>
            </a:r>
          </a:p>
        </p:txBody>
      </p:sp>
      <p:sp>
        <p:nvSpPr>
          <p:cNvPr id="6" name="Rounded Rectangle 5"/>
          <p:cNvSpPr/>
          <p:nvPr/>
        </p:nvSpPr>
        <p:spPr>
          <a:xfrm>
            <a:off x="3383280" y="1572768"/>
            <a:ext cx="2743200" cy="19659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B88C4A"/>
                </a:solidFill>
                <a:latin typeface="Liberation Sans"/>
                <a:ea typeface="Liberation Sans"/>
                <a:cs typeface="Liberation Sans"/>
              </a:rPr>
              <a:t>Ownership</a:t>
            </a:r>
          </a:p>
          <a:p>
            <a:pPr algn="l">
              <a:spcBef>
                <a:spcPts val="0"/>
              </a:spcBef>
              <a:spcAft>
                <a:spcPts val="600"/>
              </a:spcAft>
            </a:pPr>
            <a:r>
              <a:rPr sz="2000" b="1" i="0">
                <a:solidFill>
                  <a:srgbClr val="FFFFFF"/>
                </a:solidFill>
                <a:latin typeface="Liberation Serif"/>
                <a:ea typeface="Liberation Serif"/>
                <a:cs typeface="Liberation Serif"/>
              </a:rPr>
              <a:t>Who is responsible for it?</a:t>
            </a:r>
          </a:p>
        </p:txBody>
      </p:sp>
      <p:sp>
        <p:nvSpPr>
          <p:cNvPr id="7" name="Rounded Rectangle 6"/>
          <p:cNvSpPr/>
          <p:nvPr/>
        </p:nvSpPr>
        <p:spPr>
          <a:xfrm>
            <a:off x="6263640" y="1572768"/>
            <a:ext cx="2743200" cy="19659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C45C26"/>
                </a:solidFill>
                <a:latin typeface="Liberation Sans"/>
                <a:ea typeface="Liberation Sans"/>
                <a:cs typeface="Liberation Sans"/>
              </a:rPr>
              <a:t>Delegation</a:t>
            </a:r>
          </a:p>
          <a:p>
            <a:pPr algn="l">
              <a:spcBef>
                <a:spcPts val="0"/>
              </a:spcBef>
              <a:spcAft>
                <a:spcPts val="600"/>
              </a:spcAft>
            </a:pPr>
            <a:r>
              <a:rPr sz="2000" b="1" i="0">
                <a:solidFill>
                  <a:srgbClr val="1B2A4A"/>
                </a:solidFill>
                <a:latin typeface="Liberation Serif"/>
                <a:ea typeface="Liberation Serif"/>
                <a:cs typeface="Liberation Serif"/>
              </a:rPr>
              <a:t>Who performs the labor?</a:t>
            </a:r>
          </a:p>
        </p:txBody>
      </p:sp>
      <p:sp>
        <p:nvSpPr>
          <p:cNvPr id="8" name="Rounded Rectangle 7"/>
          <p:cNvSpPr/>
          <p:nvPr/>
        </p:nvSpPr>
        <p:spPr>
          <a:xfrm>
            <a:off x="9144000" y="1572768"/>
            <a:ext cx="2743200" cy="19659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C45C26"/>
                </a:solidFill>
                <a:latin typeface="Liberation Sans"/>
                <a:ea typeface="Liberation Sans"/>
                <a:cs typeface="Liberation Sans"/>
              </a:rPr>
              <a:t>Mental model</a:t>
            </a:r>
          </a:p>
          <a:p>
            <a:pPr algn="l">
              <a:spcBef>
                <a:spcPts val="0"/>
              </a:spcBef>
              <a:spcAft>
                <a:spcPts val="600"/>
              </a:spcAft>
            </a:pPr>
            <a:r>
              <a:rPr sz="2000" b="1" i="0">
                <a:solidFill>
                  <a:srgbClr val="1B2A4A"/>
                </a:solidFill>
                <a:latin typeface="Liberation Serif"/>
                <a:ea typeface="Liberation Serif"/>
                <a:cs typeface="Liberation Serif"/>
              </a:rPr>
              <a:t>What must the team think in?</a:t>
            </a:r>
          </a:p>
        </p:txBody>
      </p:sp>
      <p:sp>
        <p:nvSpPr>
          <p:cNvPr id="9" name="Rounded Rectangle 8"/>
          <p:cNvSpPr/>
          <p:nvPr/>
        </p:nvSpPr>
        <p:spPr>
          <a:xfrm>
            <a:off x="502920" y="3767328"/>
            <a:ext cx="3566160" cy="1965960"/>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C45C26"/>
                </a:solidFill>
                <a:latin typeface="Liberation Sans"/>
                <a:ea typeface="Liberation Sans"/>
                <a:cs typeface="Liberation Sans"/>
              </a:rPr>
              <a:t>Reversibility</a:t>
            </a:r>
          </a:p>
          <a:p>
            <a:pPr algn="l">
              <a:spcBef>
                <a:spcPts val="0"/>
              </a:spcBef>
              <a:spcAft>
                <a:spcPts val="600"/>
              </a:spcAft>
            </a:pPr>
            <a:r>
              <a:rPr sz="2000" b="1" i="0">
                <a:solidFill>
                  <a:srgbClr val="1B2A4A"/>
                </a:solidFill>
                <a:latin typeface="Liberation Serif"/>
                <a:ea typeface="Liberation Serif"/>
                <a:cs typeface="Liberation Serif"/>
              </a:rPr>
              <a:t>How expensive is exit?</a:t>
            </a:r>
          </a:p>
        </p:txBody>
      </p:sp>
      <p:sp>
        <p:nvSpPr>
          <p:cNvPr id="10" name="Rounded Rectangle 9"/>
          <p:cNvSpPr/>
          <p:nvPr/>
        </p:nvSpPr>
        <p:spPr>
          <a:xfrm>
            <a:off x="4306824" y="3767328"/>
            <a:ext cx="3566160" cy="19659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B88C4A"/>
                </a:solidFill>
                <a:latin typeface="Liberation Sans"/>
                <a:ea typeface="Liberation Sans"/>
                <a:cs typeface="Liberation Sans"/>
              </a:rPr>
              <a:t>Verification</a:t>
            </a:r>
          </a:p>
          <a:p>
            <a:pPr algn="l">
              <a:spcBef>
                <a:spcPts val="0"/>
              </a:spcBef>
              <a:spcAft>
                <a:spcPts val="600"/>
              </a:spcAft>
            </a:pPr>
            <a:r>
              <a:rPr sz="2000" b="1" i="0">
                <a:solidFill>
                  <a:srgbClr val="FFFFFF"/>
                </a:solidFill>
                <a:latin typeface="Liberation Serif"/>
                <a:ea typeface="Liberation Serif"/>
                <a:cs typeface="Liberation Serif"/>
              </a:rPr>
              <a:t>How do we know it is correct?</a:t>
            </a:r>
          </a:p>
        </p:txBody>
      </p:sp>
      <p:sp>
        <p:nvSpPr>
          <p:cNvPr id="11" name="Rounded Rectangle 10"/>
          <p:cNvSpPr/>
          <p:nvPr/>
        </p:nvSpPr>
        <p:spPr>
          <a:xfrm>
            <a:off x="8110728" y="3767328"/>
            <a:ext cx="3566160" cy="196596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73152"/>
          <a:lstStyle/>
          <a:p>
            <a:pPr algn="l">
              <a:spcBef>
                <a:spcPts val="0"/>
              </a:spcBef>
              <a:spcAft>
                <a:spcPts val="800"/>
              </a:spcAft>
            </a:pPr>
            <a:r>
              <a:rPr sz="1300" b="1" i="0">
                <a:solidFill>
                  <a:srgbClr val="B88C4A"/>
                </a:solidFill>
                <a:latin typeface="Liberation Sans"/>
                <a:ea typeface="Liberation Sans"/>
                <a:cs typeface="Liberation Sans"/>
              </a:rPr>
              <a:t>Gravity</a:t>
            </a:r>
          </a:p>
          <a:p>
            <a:pPr algn="l">
              <a:spcBef>
                <a:spcPts val="0"/>
              </a:spcBef>
              <a:spcAft>
                <a:spcPts val="600"/>
              </a:spcAft>
            </a:pPr>
            <a:r>
              <a:rPr sz="2000" b="1" i="0">
                <a:solidFill>
                  <a:srgbClr val="FFFFFF"/>
                </a:solidFill>
                <a:latin typeface="Liberation Serif"/>
                <a:ea typeface="Liberation Serif"/>
                <a:cs typeface="Liberation Serif"/>
              </a:rPr>
              <a:t>What else does this attract?</a:t>
            </a:r>
          </a:p>
        </p:txBody>
      </p:sp>
      <p:sp>
        <p:nvSpPr>
          <p:cNvPr id="12" name="Rectangle 11"/>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3" name="TextBox 12"/>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Framework   ·   45 / 51</a:t>
            </a:r>
          </a:p>
        </p:txBody>
      </p:sp>
      <p:sp>
        <p:nvSpPr>
          <p:cNvPr id="14" name="Rectangle 13"/>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BEFORE ADOPTING A SIGNIFICANT TECHNOLOGY</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Ask these, specifically</a:t>
            </a:r>
          </a:p>
        </p:txBody>
      </p:sp>
      <p:sp>
        <p:nvSpPr>
          <p:cNvPr id="5" name="Rounded Rectangle 4"/>
          <p:cNvSpPr/>
          <p:nvPr/>
        </p:nvSpPr>
        <p:spPr>
          <a:xfrm>
            <a:off x="502920" y="1554480"/>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Remove?</a:t>
            </a:r>
          </a:p>
          <a:p>
            <a:pPr algn="l">
              <a:spcBef>
                <a:spcPts val="0"/>
              </a:spcBef>
              <a:spcAft>
                <a:spcPts val="0"/>
              </a:spcAft>
            </a:pPr>
            <a:r>
              <a:rPr sz="1400" b="0" i="0">
                <a:solidFill>
                  <a:srgbClr val="242424"/>
                </a:solidFill>
                <a:latin typeface="Liberation Sans"/>
                <a:ea typeface="Liberation Sans"/>
                <a:cs typeface="Liberation Sans"/>
              </a:rPr>
              <a:t>What complexity does it remove? “Less code” is not an answer.</a:t>
            </a:r>
          </a:p>
        </p:txBody>
      </p:sp>
      <p:sp>
        <p:nvSpPr>
          <p:cNvPr id="6" name="Rounded Rectangle 5"/>
          <p:cNvSpPr/>
          <p:nvPr/>
        </p:nvSpPr>
        <p:spPr>
          <a:xfrm>
            <a:off x="3346704" y="1554480"/>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Introduce?</a:t>
            </a:r>
          </a:p>
          <a:p>
            <a:pPr algn="l">
              <a:spcBef>
                <a:spcPts val="0"/>
              </a:spcBef>
              <a:spcAft>
                <a:spcPts val="0"/>
              </a:spcAft>
            </a:pPr>
            <a:r>
              <a:rPr sz="1400" b="0" i="0">
                <a:solidFill>
                  <a:srgbClr val="242424"/>
                </a:solidFill>
                <a:latin typeface="Liberation Sans"/>
                <a:ea typeface="Liberation Sans"/>
                <a:cs typeface="Liberation Sans"/>
              </a:rPr>
              <a:t>Learning, ops, config, debugging, organizational knowledge.</a:t>
            </a:r>
          </a:p>
        </p:txBody>
      </p:sp>
      <p:sp>
        <p:nvSpPr>
          <p:cNvPr id="7" name="Rounded Rectangle 6"/>
          <p:cNvSpPr/>
          <p:nvPr/>
        </p:nvSpPr>
        <p:spPr>
          <a:xfrm>
            <a:off x="6190488" y="1554480"/>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Who owns behavior?</a:t>
            </a:r>
          </a:p>
          <a:p>
            <a:pPr algn="l">
              <a:spcBef>
                <a:spcPts val="0"/>
              </a:spcBef>
              <a:spcAft>
                <a:spcPts val="0"/>
              </a:spcAft>
            </a:pPr>
            <a:r>
              <a:rPr sz="1400" b="0" i="0">
                <a:solidFill>
                  <a:srgbClr val="242424"/>
                </a:solidFill>
                <a:latin typeface="Liberation Sans"/>
                <a:ea typeface="Liberation Sans"/>
                <a:cs typeface="Liberation Sans"/>
              </a:rPr>
              <a:t>Application, library, framework, platform, service?</a:t>
            </a:r>
          </a:p>
        </p:txBody>
      </p:sp>
      <p:sp>
        <p:nvSpPr>
          <p:cNvPr id="8" name="Rounded Rectangle 7"/>
          <p:cNvSpPr/>
          <p:nvPr/>
        </p:nvSpPr>
        <p:spPr>
          <a:xfrm>
            <a:off x="9034272" y="1554480"/>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How deep is the model?</a:t>
            </a:r>
          </a:p>
          <a:p>
            <a:pPr algn="l">
              <a:spcBef>
                <a:spcPts val="0"/>
              </a:spcBef>
              <a:spcAft>
                <a:spcPts val="0"/>
              </a:spcAft>
            </a:pPr>
            <a:r>
              <a:rPr sz="1400" b="0" i="0">
                <a:solidFill>
                  <a:srgbClr val="242424"/>
                </a:solidFill>
                <a:latin typeface="Liberation Sans"/>
                <a:ea typeface="Liberation Sans"/>
                <a:cs typeface="Liberation Sans"/>
              </a:rPr>
              <a:t>Local dependency, or must the whole system think in it?</a:t>
            </a:r>
          </a:p>
        </p:txBody>
      </p:sp>
      <p:sp>
        <p:nvSpPr>
          <p:cNvPr id="9" name="Rounded Rectangle 8"/>
          <p:cNvSpPr/>
          <p:nvPr/>
        </p:nvSpPr>
        <p:spPr>
          <a:xfrm>
            <a:off x="502920" y="3991356"/>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Exit cost?</a:t>
            </a:r>
          </a:p>
          <a:p>
            <a:pPr algn="l">
              <a:spcBef>
                <a:spcPts val="0"/>
              </a:spcBef>
              <a:spcAft>
                <a:spcPts val="0"/>
              </a:spcAft>
            </a:pPr>
            <a:r>
              <a:rPr sz="1400" b="0" i="0">
                <a:solidFill>
                  <a:srgbClr val="242424"/>
                </a:solidFill>
                <a:latin typeface="Liberation Sans"/>
                <a:ea typeface="Liberation Sans"/>
                <a:cs typeface="Liberation Sans"/>
              </a:rPr>
              <a:t>Replace an implementation — or replace the architecture?</a:t>
            </a:r>
          </a:p>
        </p:txBody>
      </p:sp>
      <p:sp>
        <p:nvSpPr>
          <p:cNvPr id="10" name="Rounded Rectangle 9"/>
          <p:cNvSpPr/>
          <p:nvPr/>
        </p:nvSpPr>
        <p:spPr>
          <a:xfrm>
            <a:off x="3346704" y="3991356"/>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Verification?</a:t>
            </a:r>
          </a:p>
          <a:p>
            <a:pPr algn="l">
              <a:spcBef>
                <a:spcPts val="0"/>
              </a:spcBef>
              <a:spcAft>
                <a:spcPts val="0"/>
              </a:spcAft>
            </a:pPr>
            <a:r>
              <a:rPr sz="1400" b="0" i="0">
                <a:solidFill>
                  <a:srgbClr val="242424"/>
                </a:solidFill>
                <a:latin typeface="Liberation Sans"/>
                <a:ea typeface="Liberation Sans"/>
                <a:cs typeface="Liberation Sans"/>
              </a:rPr>
              <a:t>How do we know delegated behavior is correct?</a:t>
            </a:r>
          </a:p>
        </p:txBody>
      </p:sp>
      <p:sp>
        <p:nvSpPr>
          <p:cNvPr id="11" name="Rounded Rectangle 10"/>
          <p:cNvSpPr/>
          <p:nvPr/>
        </p:nvSpPr>
        <p:spPr>
          <a:xfrm>
            <a:off x="6190488" y="3991356"/>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Gravity?</a:t>
            </a:r>
          </a:p>
          <a:p>
            <a:pPr algn="l">
              <a:spcBef>
                <a:spcPts val="0"/>
              </a:spcBef>
              <a:spcAft>
                <a:spcPts val="0"/>
              </a:spcAft>
            </a:pPr>
            <a:r>
              <a:rPr sz="1400" b="0" i="0">
                <a:solidFill>
                  <a:srgbClr val="242424"/>
                </a:solidFill>
                <a:latin typeface="Liberation Sans"/>
                <a:ea typeface="Liberation Sans"/>
                <a:cs typeface="Liberation Sans"/>
              </a:rPr>
              <a:t>What ecosystem does this make likely?</a:t>
            </a:r>
          </a:p>
        </p:txBody>
      </p:sp>
      <p:sp>
        <p:nvSpPr>
          <p:cNvPr id="12" name="Rounded Rectangle 11"/>
          <p:cNvSpPr/>
          <p:nvPr/>
        </p:nvSpPr>
        <p:spPr>
          <a:xfrm>
            <a:off x="9034272" y="3991356"/>
            <a:ext cx="2642616" cy="2272284"/>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800"/>
              </a:spcAft>
            </a:pPr>
            <a:r>
              <a:rPr sz="1800" b="1" i="0">
                <a:solidFill>
                  <a:srgbClr val="1B2A4A"/>
                </a:solidFill>
                <a:latin typeface="Liberation Serif"/>
                <a:ea typeface="Liberation Serif"/>
                <a:cs typeface="Liberation Serif"/>
              </a:rPr>
              <a:t>Owned artifact?</a:t>
            </a:r>
          </a:p>
          <a:p>
            <a:pPr algn="l">
              <a:spcBef>
                <a:spcPts val="0"/>
              </a:spcBef>
              <a:spcAft>
                <a:spcPts val="0"/>
              </a:spcAft>
            </a:pPr>
            <a:r>
              <a:rPr sz="1400" b="0" i="0">
                <a:solidFill>
                  <a:srgbClr val="242424"/>
                </a:solidFill>
                <a:latin typeface="Liberation Sans"/>
                <a:ea typeface="Liberation Sans"/>
                <a:cs typeface="Liberation Sans"/>
              </a:rPr>
              <a:t>Especially with AI: does the result remain ours?</a:t>
            </a:r>
          </a:p>
        </p:txBody>
      </p:sp>
      <p:sp>
        <p:nvSpPr>
          <p:cNvPr id="13" name="Rectangle 12"/>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4" name="TextBox 13"/>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Framework   ·   46 / 51</a:t>
            </a:r>
          </a:p>
        </p:txBody>
      </p:sp>
      <p:sp>
        <p:nvSpPr>
          <p:cNvPr id="15" name="Rectangle 14"/>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SAME PATTERN, DIFFERENT DISGUISES</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000" b="1" i="0">
                <a:solidFill>
                  <a:srgbClr val="1B2A4A"/>
                </a:solidFill>
                <a:latin typeface="Liberation Serif"/>
                <a:ea typeface="Liberation Serif"/>
                <a:cs typeface="Liberation Serif"/>
              </a:rPr>
              <a:t>Forms of delegation</a:t>
            </a:r>
          </a:p>
        </p:txBody>
      </p:sp>
      <p:sp>
        <p:nvSpPr>
          <p:cNvPr id="5" name="TextBox 4"/>
          <p:cNvSpPr txBox="1"/>
          <p:nvPr/>
        </p:nvSpPr>
        <p:spPr>
          <a:xfrm>
            <a:off x="502920" y="1554480"/>
            <a:ext cx="11155680" cy="4754880"/>
          </a:xfrm>
          <a:prstGeom prst="rect">
            <a:avLst/>
          </a:prstGeom>
          <a:noFill/>
        </p:spPr>
        <p:txBody>
          <a:bodyPr wrap="square" lIns="0" rIns="0" tIns="0" bIns="0"/>
          <a:lstStyle/>
          <a:p>
            <a:pPr algn="l">
              <a:spcBef>
                <a:spcPts val="0"/>
              </a:spcBef>
              <a:spcAft>
                <a:spcPts val="1200"/>
              </a:spcAft>
            </a:pPr>
            <a:r>
              <a:rPr sz="1800" b="0" i="0">
                <a:solidFill>
                  <a:srgbClr val="242424"/>
                </a:solidFill>
                <a:latin typeface="Liberation Sans"/>
                <a:ea typeface="Liberation Sans"/>
                <a:cs typeface="Liberation Sans"/>
              </a:rPr>
              <a:t>▸  A platform moves execution complexity outside the application.</a:t>
            </a:r>
          </a:p>
          <a:p>
            <a:pPr algn="l">
              <a:spcBef>
                <a:spcPts val="0"/>
              </a:spcBef>
              <a:spcAft>
                <a:spcPts val="1200"/>
              </a:spcAft>
            </a:pPr>
            <a:r>
              <a:rPr sz="1800" b="0" i="0">
                <a:solidFill>
                  <a:srgbClr val="242424"/>
                </a:solidFill>
                <a:latin typeface="Liberation Sans"/>
                <a:ea typeface="Liberation Sans"/>
                <a:cs typeface="Liberation Sans"/>
              </a:rPr>
              <a:t>▸  A framework moves lifecycle complexity into a programming model.</a:t>
            </a:r>
          </a:p>
          <a:p>
            <a:pPr algn="l">
              <a:spcBef>
                <a:spcPts val="0"/>
              </a:spcBef>
              <a:spcAft>
                <a:spcPts val="1200"/>
              </a:spcAft>
            </a:pPr>
            <a:r>
              <a:rPr sz="1800" b="0" i="0">
                <a:solidFill>
                  <a:srgbClr val="242424"/>
                </a:solidFill>
                <a:latin typeface="Liberation Sans"/>
                <a:ea typeface="Liberation Sans"/>
                <a:cs typeface="Liberation Sans"/>
              </a:rPr>
              <a:t>▸  A functional runtime moves concurrency into another computational model.</a:t>
            </a:r>
          </a:p>
          <a:p>
            <a:pPr algn="l">
              <a:spcBef>
                <a:spcPts val="0"/>
              </a:spcBef>
              <a:spcAft>
                <a:spcPts val="1200"/>
              </a:spcAft>
            </a:pPr>
            <a:r>
              <a:rPr sz="1800" b="0" i="0">
                <a:solidFill>
                  <a:srgbClr val="242424"/>
                </a:solidFill>
                <a:latin typeface="Liberation Sans"/>
                <a:ea typeface="Liberation Sans"/>
                <a:cs typeface="Liberation Sans"/>
              </a:rPr>
              <a:t>▸  A managed service moves operations to a provider.</a:t>
            </a:r>
          </a:p>
          <a:p>
            <a:pPr algn="l">
              <a:spcBef>
                <a:spcPts val="0"/>
              </a:spcBef>
              <a:spcAft>
                <a:spcPts val="1200"/>
              </a:spcAft>
            </a:pPr>
            <a:r>
              <a:rPr sz="1800" b="0" i="0">
                <a:solidFill>
                  <a:srgbClr val="242424"/>
                </a:solidFill>
                <a:latin typeface="Liberation Sans"/>
                <a:ea typeface="Liberation Sans"/>
                <a:cs typeface="Liberation Sans"/>
              </a:rPr>
              <a:t>▸  An AI agent moves implementation labor to an autonomous system.</a:t>
            </a:r>
          </a:p>
          <a:p>
            <a:pPr algn="l">
              <a:spcBef>
                <a:spcPts val="0"/>
              </a:spcBef>
              <a:spcAft>
                <a:spcPts val="1200"/>
              </a:spcAft>
            </a:pPr>
            <a:r>
              <a:rPr sz="1800" b="0" i="0">
                <a:solidFill>
                  <a:srgbClr val="242424"/>
                </a:solidFill>
                <a:latin typeface="Liberation Sans"/>
                <a:ea typeface="Liberation Sans"/>
                <a:cs typeface="Liberation Sans"/>
              </a:rPr>
              <a:t>▸  None are inherently good or bad. Each rearranges labor, complexity, knowledge, control, ownership, and verification.</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Framework   ·   47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THE RULE</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Delegate labor when possible. Delegate ownership when the economics genuinely justify it.</a:t>
            </a:r>
          </a:p>
          <a:p>
            <a:pPr algn="l">
              <a:spcBef>
                <a:spcPts val="0"/>
              </a:spcBef>
              <a:spcAft>
                <a:spcPts val="600"/>
              </a:spcAft>
            </a:pPr>
            <a:r>
              <a:rPr sz="1600" b="0" i="0">
                <a:solidFill>
                  <a:srgbClr val="5A6570"/>
                </a:solidFill>
                <a:latin typeface="Liberation Sans"/>
                <a:ea typeface="Liberation Sans"/>
                <a:cs typeface="Liberation Sans"/>
              </a:rPr>
              <a:t>And when you delegate ownership, do it deliberately — not accidentally.</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Framework   ·   48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DO NOT TURN THIS INTO AN ANTI-TOOL PHILOSOPHY</a:t>
            </a:r>
          </a:p>
        </p:txBody>
      </p:sp>
      <p:sp>
        <p:nvSpPr>
          <p:cNvPr id="5" name="TextBox 4"/>
          <p:cNvSpPr txBox="1"/>
          <p:nvPr/>
        </p:nvSpPr>
        <p:spPr>
          <a:xfrm>
            <a:off x="822960" y="1828800"/>
            <a:ext cx="10515600" cy="2926080"/>
          </a:xfrm>
          <a:prstGeom prst="rect">
            <a:avLst/>
          </a:prstGeom>
          <a:noFill/>
        </p:spPr>
        <p:txBody>
          <a:bodyPr wrap="square" lIns="0" rIns="0" tIns="0" bIns="0"/>
          <a:lstStyle/>
          <a:p>
            <a:pPr algn="l">
              <a:spcBef>
                <a:spcPts val="0"/>
              </a:spcBef>
              <a:spcAft>
                <a:spcPts val="1600"/>
              </a:spcAft>
            </a:pPr>
            <a:r>
              <a:rPr sz="2800" b="0" i="1">
                <a:solidFill>
                  <a:srgbClr val="1B2A4A"/>
                </a:solidFill>
                <a:latin typeface="Liberation Serif"/>
                <a:ea typeface="Liberation Serif"/>
                <a:cs typeface="Liberation Serif"/>
              </a:rPr>
              <a:t>The goal is not maximum control.</a:t>
            </a:r>
          </a:p>
          <a:p>
            <a:pPr algn="l">
              <a:spcBef>
                <a:spcPts val="0"/>
              </a:spcBef>
              <a:spcAft>
                <a:spcPts val="600"/>
              </a:spcAft>
            </a:pPr>
            <a:r>
              <a:rPr sz="1600" b="0" i="0">
                <a:solidFill>
                  <a:srgbClr val="5A6570"/>
                </a:solidFill>
                <a:latin typeface="Liberation Sans"/>
                <a:ea typeface="Liberation Sans"/>
                <a:cs typeface="Liberation Sans"/>
              </a:rPr>
              <a:t>Owning a hard distributed system yourself can cost more than a mature platform. A demanding programming model can be worth it when the problem requires it.</a:t>
            </a:r>
          </a:p>
        </p:txBody>
      </p:sp>
      <p:sp>
        <p:nvSpPr>
          <p:cNvPr id="6" name="Rectangle 5"/>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7" name="TextBox 6"/>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Framework   ·   49 / 51</a:t>
            </a:r>
          </a:p>
        </p:txBody>
      </p:sp>
      <p:sp>
        <p:nvSpPr>
          <p:cNvPr id="8" name="Rectangle 7"/>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292608"/>
          </a:xfrm>
          <a:prstGeom prst="rect">
            <a:avLst/>
          </a:prstGeom>
          <a:noFill/>
        </p:spPr>
        <p:txBody>
          <a:bodyPr wrap="square" lIns="0" rIns="0" tIns="0" bIns="0"/>
          <a:lstStyle/>
          <a:p>
            <a:pPr algn="l">
              <a:spcBef>
                <a:spcPts val="0"/>
              </a:spcBef>
              <a:spcAft>
                <a:spcPts val="600"/>
              </a:spcAft>
            </a:pPr>
            <a:r>
              <a:rPr sz="1200" b="1" i="0">
                <a:solidFill>
                  <a:srgbClr val="C45C26"/>
                </a:solidFill>
                <a:latin typeface="Liberation Sans"/>
                <a:ea typeface="Liberation Sans"/>
                <a:cs typeface="Liberation Sans"/>
              </a:rPr>
              <a:t>IF YOU REMEMBER FIVE THINGS</a:t>
            </a:r>
          </a:p>
        </p:txBody>
      </p:sp>
      <p:sp>
        <p:nvSpPr>
          <p:cNvPr id="4" name="TextBox 3"/>
          <p:cNvSpPr txBox="1"/>
          <p:nvPr/>
        </p:nvSpPr>
        <p:spPr>
          <a:xfrm>
            <a:off x="502920" y="475488"/>
            <a:ext cx="11155680" cy="960120"/>
          </a:xfrm>
          <a:prstGeom prst="rect">
            <a:avLst/>
          </a:prstGeom>
          <a:noFill/>
        </p:spPr>
        <p:txBody>
          <a:bodyPr wrap="square" lIns="0" rIns="0" tIns="0" bIns="0"/>
          <a:lstStyle/>
          <a:p>
            <a:pPr algn="l">
              <a:spcBef>
                <a:spcPts val="0"/>
              </a:spcBef>
              <a:spcAft>
                <a:spcPts val="600"/>
              </a:spcAft>
            </a:pPr>
            <a:r>
              <a:rPr sz="3200" b="1" i="0">
                <a:solidFill>
                  <a:srgbClr val="1B2A4A"/>
                </a:solidFill>
                <a:latin typeface="Liberation Serif"/>
                <a:ea typeface="Liberation Serif"/>
                <a:cs typeface="Liberation Serif"/>
              </a:rPr>
              <a:t>Takeaways</a:t>
            </a:r>
          </a:p>
        </p:txBody>
      </p:sp>
      <p:sp>
        <p:nvSpPr>
          <p:cNvPr id="5" name="Rounded Rectangle 4"/>
          <p:cNvSpPr/>
          <p:nvPr/>
        </p:nvSpPr>
        <p:spPr>
          <a:xfrm>
            <a:off x="502920" y="1508760"/>
            <a:ext cx="640080" cy="713232"/>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200" b="1" i="0">
                <a:solidFill>
                  <a:srgbClr val="FFFFFF"/>
                </a:solidFill>
                <a:latin typeface="Liberation Serif"/>
                <a:ea typeface="Liberation Serif"/>
                <a:cs typeface="Liberation Serif"/>
              </a:rPr>
              <a:t>1</a:t>
            </a:r>
          </a:p>
        </p:txBody>
      </p:sp>
      <p:sp>
        <p:nvSpPr>
          <p:cNvPr id="6" name="Rounded Rectangle 5"/>
          <p:cNvSpPr/>
          <p:nvPr/>
        </p:nvSpPr>
        <p:spPr>
          <a:xfrm>
            <a:off x="1325880" y="1508760"/>
            <a:ext cx="10332720" cy="713232"/>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0" i="0">
                <a:solidFill>
                  <a:srgbClr val="1B2A4A"/>
                </a:solidFill>
                <a:latin typeface="Liberation Sans"/>
                <a:ea typeface="Liberation Sans"/>
                <a:cs typeface="Liberation Sans"/>
              </a:rPr>
              <a:t>Complexity is relocated, not deleted.</a:t>
            </a:r>
          </a:p>
        </p:txBody>
      </p:sp>
      <p:sp>
        <p:nvSpPr>
          <p:cNvPr id="7" name="Rounded Rectangle 6"/>
          <p:cNvSpPr/>
          <p:nvPr/>
        </p:nvSpPr>
        <p:spPr>
          <a:xfrm>
            <a:off x="502920" y="2377440"/>
            <a:ext cx="640080" cy="713232"/>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200" b="1" i="0">
                <a:solidFill>
                  <a:srgbClr val="FFFFFF"/>
                </a:solidFill>
                <a:latin typeface="Liberation Serif"/>
                <a:ea typeface="Liberation Serif"/>
                <a:cs typeface="Liberation Serif"/>
              </a:rPr>
              <a:t>2</a:t>
            </a:r>
          </a:p>
        </p:txBody>
      </p:sp>
      <p:sp>
        <p:nvSpPr>
          <p:cNvPr id="8" name="Rounded Rectangle 7"/>
          <p:cNvSpPr/>
          <p:nvPr/>
        </p:nvSpPr>
        <p:spPr>
          <a:xfrm>
            <a:off x="1325880" y="2377440"/>
            <a:ext cx="10332720" cy="713232"/>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0" i="0">
                <a:solidFill>
                  <a:srgbClr val="1B2A4A"/>
                </a:solidFill>
                <a:latin typeface="Liberation Sans"/>
                <a:ea typeface="Liberation Sans"/>
                <a:cs typeface="Liberation Sans"/>
              </a:rPr>
              <a:t>Ask total cost of ownership, not lines of code saved.</a:t>
            </a:r>
          </a:p>
        </p:txBody>
      </p:sp>
      <p:sp>
        <p:nvSpPr>
          <p:cNvPr id="9" name="Rounded Rectangle 8"/>
          <p:cNvSpPr/>
          <p:nvPr/>
        </p:nvSpPr>
        <p:spPr>
          <a:xfrm>
            <a:off x="502920" y="3246120"/>
            <a:ext cx="640080" cy="713232"/>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200" b="1" i="0">
                <a:solidFill>
                  <a:srgbClr val="FFFFFF"/>
                </a:solidFill>
                <a:latin typeface="Liberation Serif"/>
                <a:ea typeface="Liberation Serif"/>
                <a:cs typeface="Liberation Serif"/>
              </a:rPr>
              <a:t>3</a:t>
            </a:r>
          </a:p>
        </p:txBody>
      </p:sp>
      <p:sp>
        <p:nvSpPr>
          <p:cNvPr id="10" name="Rounded Rectangle 9"/>
          <p:cNvSpPr/>
          <p:nvPr/>
        </p:nvSpPr>
        <p:spPr>
          <a:xfrm>
            <a:off x="1325880" y="3246120"/>
            <a:ext cx="10332720" cy="713232"/>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0" i="0">
                <a:solidFill>
                  <a:srgbClr val="1B2A4A"/>
                </a:solidFill>
                <a:latin typeface="Liberation Sans"/>
                <a:ea typeface="Liberation Sans"/>
                <a:cs typeface="Liberation Sans"/>
              </a:rPr>
              <a:t>Prefer delegating labor over delegating ownership.</a:t>
            </a:r>
          </a:p>
        </p:txBody>
      </p:sp>
      <p:sp>
        <p:nvSpPr>
          <p:cNvPr id="11" name="Rounded Rectangle 10"/>
          <p:cNvSpPr/>
          <p:nvPr/>
        </p:nvSpPr>
        <p:spPr>
          <a:xfrm>
            <a:off x="502920" y="4114799"/>
            <a:ext cx="640080" cy="713232"/>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200" b="1" i="0">
                <a:solidFill>
                  <a:srgbClr val="FFFFFF"/>
                </a:solidFill>
                <a:latin typeface="Liberation Serif"/>
                <a:ea typeface="Liberation Serif"/>
                <a:cs typeface="Liberation Serif"/>
              </a:rPr>
              <a:t>4</a:t>
            </a:r>
          </a:p>
        </p:txBody>
      </p:sp>
      <p:sp>
        <p:nvSpPr>
          <p:cNvPr id="12" name="Rounded Rectangle 11"/>
          <p:cNvSpPr/>
          <p:nvPr/>
        </p:nvSpPr>
        <p:spPr>
          <a:xfrm>
            <a:off x="1325880" y="4114799"/>
            <a:ext cx="10332720" cy="713232"/>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0" i="0">
                <a:solidFill>
                  <a:srgbClr val="1B2A4A"/>
                </a:solidFill>
                <a:latin typeface="Liberation Sans"/>
                <a:ea typeface="Liberation Sans"/>
                <a:cs typeface="Liberation Sans"/>
              </a:rPr>
              <a:t>Delegate generation aggressively; delegate acceptance conservatively.</a:t>
            </a:r>
          </a:p>
        </p:txBody>
      </p:sp>
      <p:sp>
        <p:nvSpPr>
          <p:cNvPr id="13" name="Rounded Rectangle 12"/>
          <p:cNvSpPr/>
          <p:nvPr/>
        </p:nvSpPr>
        <p:spPr>
          <a:xfrm>
            <a:off x="502920" y="4983480"/>
            <a:ext cx="640080" cy="713232"/>
          </a:xfrm>
          <a:prstGeom prst="roundRect">
            <a:avLst>
              <a:gd name="adj" fmla="val 8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600"/>
              </a:spcAft>
            </a:pPr>
            <a:r>
              <a:rPr sz="2200" b="1" i="0">
                <a:solidFill>
                  <a:srgbClr val="FFFFFF"/>
                </a:solidFill>
                <a:latin typeface="Liberation Serif"/>
                <a:ea typeface="Liberation Serif"/>
                <a:cs typeface="Liberation Serif"/>
              </a:rPr>
              <a:t>5</a:t>
            </a:r>
          </a:p>
        </p:txBody>
      </p:sp>
      <p:sp>
        <p:nvSpPr>
          <p:cNvPr id="14" name="Rounded Rectangle 13"/>
          <p:cNvSpPr/>
          <p:nvPr/>
        </p:nvSpPr>
        <p:spPr>
          <a:xfrm>
            <a:off x="1325880" y="4983480"/>
            <a:ext cx="10332720" cy="713232"/>
          </a:xfrm>
          <a:prstGeom prst="roundRect">
            <a:avLst>
              <a:gd name="adj" fmla="val 8000"/>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82296"/>
          <a:lstStyle/>
          <a:p>
            <a:pPr algn="l">
              <a:spcBef>
                <a:spcPts val="0"/>
              </a:spcBef>
              <a:spcAft>
                <a:spcPts val="600"/>
              </a:spcAft>
            </a:pPr>
            <a:r>
              <a:rPr sz="2000" b="0" i="0">
                <a:solidFill>
                  <a:srgbClr val="1B2A4A"/>
                </a:solidFill>
                <a:latin typeface="Liberation Sans"/>
                <a:ea typeface="Liberation Sans"/>
                <a:cs typeface="Liberation Sans"/>
              </a:rPr>
              <a:t>Find the cheapest sustainable place for complexity — with the control the system actually needs.</a:t>
            </a:r>
          </a:p>
        </p:txBody>
      </p:sp>
      <p:sp>
        <p:nvSpPr>
          <p:cNvPr id="15" name="Rectangle 14"/>
          <p:cNvSpPr/>
          <p:nvPr/>
        </p:nvSpPr>
        <p:spPr>
          <a:xfrm>
            <a:off x="0" y="6601968"/>
            <a:ext cx="12191695" cy="25603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54864"/>
          <a:lstStyle/>
          <a:p>
            <a:pPr algn="l">
              <a:spcBef>
                <a:spcPts val="0"/>
              </a:spcBef>
              <a:spcAft>
                <a:spcPts val="600"/>
              </a:spcAft>
            </a:pPr>
            <a:r>
              <a:rPr sz="1000" b="0" i="0">
                <a:solidFill>
                  <a:srgbClr val="5A6570"/>
                </a:solidFill>
                <a:latin typeface="Liberation Sans"/>
                <a:ea typeface="Liberation Sans"/>
                <a:cs typeface="Liberation Sans"/>
              </a:rPr>
              <a:t>The Hidden Cost of Delegation</a:t>
            </a:r>
          </a:p>
        </p:txBody>
      </p:sp>
      <p:sp>
        <p:nvSpPr>
          <p:cNvPr id="16" name="TextBox 15"/>
          <p:cNvSpPr txBox="1"/>
          <p:nvPr/>
        </p:nvSpPr>
        <p:spPr>
          <a:xfrm>
            <a:off x="7863840" y="6601968"/>
            <a:ext cx="3840480" cy="256032"/>
          </a:xfrm>
          <a:prstGeom prst="rect">
            <a:avLst/>
          </a:prstGeom>
          <a:noFill/>
        </p:spPr>
        <p:txBody>
          <a:bodyPr wrap="square" lIns="36576" rIns="36576" tIns="25603" bIns="18288"/>
          <a:lstStyle/>
          <a:p>
            <a:pPr algn="r">
              <a:spcBef>
                <a:spcPts val="0"/>
              </a:spcBef>
              <a:spcAft>
                <a:spcPts val="600"/>
              </a:spcAft>
            </a:pPr>
            <a:r>
              <a:rPr sz="1000" b="0" i="0">
                <a:solidFill>
                  <a:srgbClr val="5A6570"/>
                </a:solidFill>
                <a:latin typeface="Liberation Sans"/>
                <a:ea typeface="Liberation Sans"/>
                <a:cs typeface="Liberation Sans"/>
              </a:rPr>
              <a:t>Close   ·   50 / 51</a:t>
            </a:r>
          </a:p>
        </p:txBody>
      </p:sp>
      <p:sp>
        <p:nvSpPr>
          <p:cNvPr id="17" name="Rectangle 16"/>
          <p:cNvSpPr/>
          <p:nvPr/>
        </p:nvSpPr>
        <p:spPr>
          <a:xfrm>
            <a:off x="0" y="6601968"/>
            <a:ext cx="109728" cy="25603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10515600" cy="4206240"/>
          </a:xfrm>
          <a:prstGeom prst="rect">
            <a:avLst/>
          </a:prstGeom>
          <a:noFill/>
        </p:spPr>
        <p:txBody>
          <a:bodyPr wrap="square" lIns="0" rIns="0" tIns="0" bIns="0"/>
          <a:lstStyle/>
          <a:p>
            <a:pPr algn="l">
              <a:spcBef>
                <a:spcPts val="0"/>
              </a:spcBef>
              <a:spcAft>
                <a:spcPts val="1800"/>
              </a:spcAft>
            </a:pPr>
            <a:r>
              <a:rPr sz="3600" b="1" i="0">
                <a:solidFill>
                  <a:srgbClr val="FFFFFF"/>
                </a:solidFill>
                <a:latin typeface="Liberation Serif"/>
                <a:ea typeface="Liberation Serif"/>
                <a:cs typeface="Liberation Serif"/>
              </a:rPr>
              <a:t>Where should this complexity live?</a:t>
            </a:r>
          </a:p>
          <a:p>
            <a:pPr algn="l">
              <a:spcBef>
                <a:spcPts val="0"/>
              </a:spcBef>
              <a:spcAft>
                <a:spcPts val="2800"/>
              </a:spcAft>
            </a:pPr>
            <a:r>
              <a:rPr sz="2400" b="0" i="1">
                <a:solidFill>
                  <a:srgbClr val="FFF8EF"/>
                </a:solidFill>
                <a:latin typeface="Liberation Serif"/>
                <a:ea typeface="Liberation Serif"/>
                <a:cs typeface="Liberation Serif"/>
              </a:rPr>
              <a:t>Who should perform the labor, who should make the decision, and who should own the result?</a:t>
            </a:r>
          </a:p>
          <a:p>
            <a:pPr algn="l">
              <a:spcBef>
                <a:spcPts val="0"/>
              </a:spcBef>
              <a:spcAft>
                <a:spcPts val="2000"/>
              </a:spcAft>
            </a:pPr>
            <a:r>
              <a:rPr sz="2000" b="1" i="0">
                <a:solidFill>
                  <a:srgbClr val="B88C4A"/>
                </a:solidFill>
                <a:latin typeface="Liberation Sans"/>
                <a:ea typeface="Liberation Sans"/>
                <a:cs typeface="Liberation Sans"/>
              </a:rPr>
              <a:t>That is the hidden cost of delegation.</a:t>
            </a:r>
          </a:p>
          <a:p>
            <a:pPr algn="l">
              <a:spcBef>
                <a:spcPts val="0"/>
              </a:spcBef>
              <a:spcAft>
                <a:spcPts val="600"/>
              </a:spcAft>
            </a:pPr>
            <a:r>
              <a:rPr sz="1600" b="0" i="0">
                <a:solidFill>
                  <a:srgbClr val="FFF8EF"/>
                </a:solidFill>
                <a:latin typeface="Liberation Sans"/>
                <a:ea typeface="Liberation Sans"/>
                <a:cs typeface="Liberation Sans"/>
              </a:rPr>
              <a:t>Questions  ·  disagreements  ·  live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